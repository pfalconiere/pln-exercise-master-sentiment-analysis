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Helvetica Neue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PuwDd1bGuW8cioTF6WvsvfkQx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5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12.xml"/><Relationship Id="rId39" Type="http://schemas.openxmlformats.org/officeDocument/2006/relationships/font" Target="fonts/DMSans-regular.fntdata"/><Relationship Id="rId16" Type="http://schemas.openxmlformats.org/officeDocument/2006/relationships/slide" Target="slides/slide11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1e1e23c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g3c1e1e23c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https://www.slideshare.net/pranavgupta21/introduction-to-natural-language-processing-13847262</a:t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https://www.slideshare.net/minhpqn/introduction-to-natural-language-processing-67212472</a:t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https://www.slideshare.net/minhpqn/introduction-to-natural-language-processing-67212472</a:t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2579d6d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c2579d6d2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1e1e23c37_0_2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c1e1e23c37_0_2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c1e1e23c37_0_2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1e1e23c37_0_2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c1e1e23c37_0_2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c1e1e23c37_0_2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c1e1e23c37_0_2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c1e1e23c37_0_2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c1e1e23c37_0_2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c1e1e23c37_0_2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c1e1e23c37_0_2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c1e1e23c37_0_2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1e1e23c37_0_2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c1e1e23c37_0_2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1e1e23c37_0_2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c1e1e23c37_0_2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c1e1e23c37_0_2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1e1e23c37_0_2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c1e1e23c37_0_2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1e1e23c37_0_2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c1e1e23c37_0_2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c1e1e23c37_0_2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c1e1e23c37_0_2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c1e1e23c37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1e1e23c37_0_2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c1e1e23c37_0_2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1e1e23c37_0_2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c1e1e23c37_0_2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c1e1e23c37_0_2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1e1e23c37_0_2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1e1e23c37_0_2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2" name="Google Shape;52;g3c1e1e23c37_0_2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1e1e23c37_0_26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c1e1e23c37_0_263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c1e1e23c37_0_2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c1e1e23c37_0_2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c1e1e23c37_0_2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1e1e23c37_0_0"/>
          <p:cNvSpPr/>
          <p:nvPr/>
        </p:nvSpPr>
        <p:spPr>
          <a:xfrm>
            <a:off x="-45425" y="-27250"/>
            <a:ext cx="9189300" cy="5170800"/>
          </a:xfrm>
          <a:prstGeom prst="rect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c1e1e23c37_0_0"/>
          <p:cNvSpPr txBox="1"/>
          <p:nvPr/>
        </p:nvSpPr>
        <p:spPr>
          <a:xfrm>
            <a:off x="466328" y="1800300"/>
            <a:ext cx="63486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pt-BR" sz="3400">
                <a:solidFill>
                  <a:srgbClr val="F7F6E2"/>
                </a:solidFill>
                <a:latin typeface="DM Sans"/>
                <a:ea typeface="DM Sans"/>
                <a:cs typeface="DM Sans"/>
                <a:sym typeface="DM Sans"/>
              </a:rPr>
              <a:t>Visão Geral do Curso</a:t>
            </a:r>
            <a:endParaRPr b="1" i="0" sz="3400" u="none" cap="none" strike="noStrike">
              <a:solidFill>
                <a:srgbClr val="F7F6E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2" name="Google Shape;62;g3c1e1e23c37_0_0"/>
          <p:cNvPicPr preferRelativeResize="0"/>
          <p:nvPr/>
        </p:nvPicPr>
        <p:blipFill rotWithShape="1">
          <a:blip r:embed="rId3">
            <a:alphaModFix/>
          </a:blip>
          <a:srcRect b="28921" l="0" r="0" t="0"/>
          <a:stretch/>
        </p:blipFill>
        <p:spPr>
          <a:xfrm>
            <a:off x="466331" y="449997"/>
            <a:ext cx="1183898" cy="7516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c1e1e23c37_0_0"/>
          <p:cNvSpPr/>
          <p:nvPr/>
        </p:nvSpPr>
        <p:spPr>
          <a:xfrm rot="-5400000">
            <a:off x="7507635" y="216486"/>
            <a:ext cx="905796" cy="18117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g3c1e1e23c37_0_0"/>
          <p:cNvSpPr/>
          <p:nvPr/>
        </p:nvSpPr>
        <p:spPr>
          <a:xfrm>
            <a:off x="7054565" y="1885087"/>
            <a:ext cx="1812000" cy="1812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g3c1e1e23c37_0_0"/>
          <p:cNvSpPr/>
          <p:nvPr/>
        </p:nvSpPr>
        <p:spPr>
          <a:xfrm rot="5400000">
            <a:off x="5403061" y="87049"/>
            <a:ext cx="905796" cy="18117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O que é PLN</a:t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3757764" y="3113107"/>
            <a:ext cx="1225992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Wikipedia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123757"/>
            <a:ext cx="6858000" cy="192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895" y="384755"/>
            <a:ext cx="6681240" cy="437398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/>
          <p:nvPr/>
        </p:nvSpPr>
        <p:spPr>
          <a:xfrm>
            <a:off x="2105093" y="4821572"/>
            <a:ext cx="50108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https://www.youtube.com/watch?v=ARJ8cAGm6JE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665789"/>
            <a:ext cx="6858000" cy="3811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Motivação para o Uso de PLN</a:t>
            </a:r>
            <a:endParaRPr/>
          </a:p>
        </p:txBody>
      </p:sp>
      <p:sp>
        <p:nvSpPr>
          <p:cNvPr id="93" name="Google Shape;93;p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Linguagem é complexa e envolve várias atividades humanas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Leitura, escrita, fala, audição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Desejo de extrair conhecimento de textos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Artigos científicos, notícias etc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Aplicações</a:t>
            </a:r>
            <a:endParaRPr/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540" y="857112"/>
            <a:ext cx="4010908" cy="3870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/>
        </p:nvSpPr>
        <p:spPr>
          <a:xfrm>
            <a:off x="1510175" y="4818911"/>
            <a:ext cx="584006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https://datasciencedojo.com/blog/natural-language-processing-applications/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Aplicações: Tradução</a:t>
            </a:r>
            <a:endParaRPr/>
          </a:p>
        </p:txBody>
      </p:sp>
      <p:pic>
        <p:nvPicPr>
          <p:cNvPr id="106" name="Google Shape;1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547" y="1390193"/>
            <a:ext cx="6152251" cy="238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Aplicações: Reconhecimento de Fala</a:t>
            </a:r>
            <a:endParaRPr/>
          </a:p>
        </p:txBody>
      </p:sp>
      <p:pic>
        <p:nvPicPr>
          <p:cNvPr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360" y="1252890"/>
            <a:ext cx="5568996" cy="278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Aplicações: Predição de Próxima Palavra</a:t>
            </a:r>
            <a:endParaRPr/>
          </a:p>
        </p:txBody>
      </p:sp>
      <p:pic>
        <p:nvPicPr>
          <p:cNvPr id="118" name="Google Shape;1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113" y="1149912"/>
            <a:ext cx="5263922" cy="3631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Desafio: Ambiguidade</a:t>
            </a:r>
            <a:endParaRPr/>
          </a:p>
        </p:txBody>
      </p:sp>
      <p:sp>
        <p:nvSpPr>
          <p:cNvPr id="124" name="Google Shape;124;p10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Ex: I made her duck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Significados:</a:t>
            </a:r>
            <a:endParaRPr/>
          </a:p>
        </p:txBody>
      </p:sp>
      <p:pic>
        <p:nvPicPr>
          <p:cNvPr id="125" name="Google Shape;1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446" y="1981151"/>
            <a:ext cx="5554080" cy="2331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Desafio: Ambiguidade</a:t>
            </a:r>
            <a:endParaRPr/>
          </a:p>
        </p:txBody>
      </p:sp>
      <p:pic>
        <p:nvPicPr>
          <p:cNvPr id="131" name="Google Shape;1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9785" y="1548315"/>
            <a:ext cx="5444438" cy="1669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A Disciplina</a:t>
            </a:r>
            <a:endParaRPr/>
          </a:p>
        </p:txBody>
      </p:sp>
      <p:sp>
        <p:nvSpPr>
          <p:cNvPr id="137" name="Google Shape;137;p1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Objetivo: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Aprender principais técnicas, tarefas e aplicações de Processamento de Linguagem Natural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Avaliação: projetos</a:t>
            </a:r>
            <a:endParaRPr/>
          </a:p>
          <a:p>
            <a:pPr indent="-3302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Classroom: </a:t>
            </a:r>
            <a:r>
              <a:rPr lang="pt-BR" sz="4000">
                <a:solidFill>
                  <a:srgbClr val="444746"/>
                </a:solidFill>
                <a:highlight>
                  <a:srgbClr val="E9EEF6"/>
                </a:highlight>
                <a:latin typeface="Roboto"/>
                <a:ea typeface="Roboto"/>
                <a:cs typeface="Roboto"/>
                <a:sym typeface="Roboto"/>
              </a:rPr>
              <a:t>6rv7n3av</a:t>
            </a:r>
            <a:endParaRPr sz="4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ct val="100000"/>
              <a:buFont typeface="Arial"/>
              <a:buNone/>
            </a:pPr>
            <a:r>
              <a:rPr lang="pt-BR"/>
              <a:t>Projeto - Módulo 1: Implementar Análise de Sentimentos em Avaliações de Produtos</a:t>
            </a:r>
            <a:endParaRPr/>
          </a:p>
        </p:txBody>
      </p:sp>
      <p:sp>
        <p:nvSpPr>
          <p:cNvPr id="143" name="Google Shape;143;p13"/>
          <p:cNvSpPr txBox="1"/>
          <p:nvPr>
            <p:ph idx="1" type="body"/>
          </p:nvPr>
        </p:nvSpPr>
        <p:spPr>
          <a:xfrm>
            <a:off x="457200" y="1231524"/>
            <a:ext cx="82296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Coletar avaliações de um produto selecionado: texto e nota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Treinar classificador: SVM + bow, SVM + embeddings, BERT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Bônus: utilizar in-context learning para a classificação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Apresentação reportando resultados (F1 e acurácia) e análises (notebook)</a:t>
            </a:r>
            <a:endParaRPr/>
          </a:p>
        </p:txBody>
      </p:sp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85" y="3039846"/>
            <a:ext cx="2373690" cy="143829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3"/>
          <p:cNvSpPr/>
          <p:nvPr/>
        </p:nvSpPr>
        <p:spPr>
          <a:xfrm>
            <a:off x="3272252" y="3502400"/>
            <a:ext cx="1848600" cy="513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Pré-Processamento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3"/>
          <p:cNvCxnSpPr>
            <a:stCxn id="144" idx="3"/>
            <a:endCxn id="145" idx="1"/>
          </p:cNvCxnSpPr>
          <p:nvPr/>
        </p:nvCxnSpPr>
        <p:spPr>
          <a:xfrm>
            <a:off x="2471575" y="3758995"/>
            <a:ext cx="8007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47" name="Google Shape;147;p13"/>
          <p:cNvSpPr/>
          <p:nvPr/>
        </p:nvSpPr>
        <p:spPr>
          <a:xfrm>
            <a:off x="5418251" y="3502397"/>
            <a:ext cx="1441500" cy="513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Treinamento do Classificador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13"/>
          <p:cNvCxnSpPr>
            <a:stCxn id="145" idx="3"/>
            <a:endCxn id="147" idx="1"/>
          </p:cNvCxnSpPr>
          <p:nvPr/>
        </p:nvCxnSpPr>
        <p:spPr>
          <a:xfrm>
            <a:off x="5120852" y="3759050"/>
            <a:ext cx="2973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49" name="Google Shape;149;p13"/>
          <p:cNvSpPr/>
          <p:nvPr/>
        </p:nvSpPr>
        <p:spPr>
          <a:xfrm>
            <a:off x="7153142" y="3502397"/>
            <a:ext cx="1346400" cy="513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Avaliação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3"/>
          <p:cNvCxnSpPr>
            <a:stCxn id="147" idx="3"/>
            <a:endCxn id="149" idx="1"/>
          </p:cNvCxnSpPr>
          <p:nvPr/>
        </p:nvCxnSpPr>
        <p:spPr>
          <a:xfrm>
            <a:off x="6859751" y="3759047"/>
            <a:ext cx="293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151" name="Google Shape;151;p13"/>
          <p:cNvSpPr txBox="1"/>
          <p:nvPr/>
        </p:nvSpPr>
        <p:spPr>
          <a:xfrm>
            <a:off x="807585" y="4568680"/>
            <a:ext cx="9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Avaliações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2579d6d23_0_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ct val="100000"/>
              <a:buFont typeface="Arial"/>
              <a:buNone/>
            </a:pPr>
            <a:r>
              <a:rPr lang="pt-BR"/>
              <a:t>Projeto - Módulo 2: Implementar um sistema RAG</a:t>
            </a:r>
            <a:endParaRPr/>
          </a:p>
        </p:txBody>
      </p:sp>
      <p:sp>
        <p:nvSpPr>
          <p:cNvPr id="157" name="Google Shape;157;g3c2579d6d23_0_0"/>
          <p:cNvSpPr txBox="1"/>
          <p:nvPr>
            <p:ph idx="1" type="body"/>
          </p:nvPr>
        </p:nvSpPr>
        <p:spPr>
          <a:xfrm>
            <a:off x="457200" y="1231524"/>
            <a:ext cx="82296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Coletar documentos de interesse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Indexar documentos em um banco de dados vetorial</a:t>
            </a:r>
            <a:endParaRPr/>
          </a:p>
          <a:p>
            <a:pPr indent="-3302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Implementar componentes de busca e geração de resposta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Bibliografia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Speech and Language Processing (3rd ed. draft). Dan Jurafsky and James H. Martin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Foundations of Statistical Natural Language Processing. Christopher D. Manning and Hinrich Schütze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Natural Language Processing. Jacob Eisenstein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Lin, Tianyang, Yuxin Wang, Xiangyang Liu, and Xipeng Qiu. "A survey of transformers." AI Open (2022).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Tópicos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Processamento de texto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Representação de palavras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Extração de informação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Modelos de linguagem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Geração automática de texto </a:t>
            </a:r>
            <a:endParaRPr/>
          </a:p>
          <a:p>
            <a:pPr indent="-3302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Recuperação de informação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457200" y="3429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ct val="100000"/>
              <a:buFont typeface="Arial"/>
              <a:buNone/>
            </a:pPr>
            <a:r>
              <a:rPr lang="pt-BR"/>
              <a:t>Processamento de Texto: Segmentação de Palavras</a:t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Primeira tarefa em um sistema de PLN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Estado da arte utiliza machine learning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Obtêm alta acurácia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225" y="1667892"/>
            <a:ext cx="6858001" cy="1175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457200" y="3098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ct val="100000"/>
              <a:buFont typeface="Arial"/>
              <a:buNone/>
            </a:pPr>
            <a:r>
              <a:rPr lang="pt-BR"/>
              <a:t>Classificação de Texto: Análise de Sentimentos</a:t>
            </a:r>
            <a:endParaRPr/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323" y="1572876"/>
            <a:ext cx="3867307" cy="177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Representação de Palavras: Embeddings</a:t>
            </a:r>
            <a:endParaRPr/>
          </a:p>
        </p:txBody>
      </p:sp>
      <p:pic>
        <p:nvPicPr>
          <p:cNvPr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98" y="886644"/>
            <a:ext cx="5700677" cy="425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Extração de Informação</a:t>
            </a:r>
            <a:endParaRPr/>
          </a:p>
        </p:txBody>
      </p:sp>
      <p:pic>
        <p:nvPicPr>
          <p:cNvPr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790" y="1330179"/>
            <a:ext cx="6010423" cy="248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Chatbot: ELIZA</a:t>
            </a:r>
            <a:endParaRPr/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676400"/>
            <a:ext cx="571500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Modelo de Linguagem</a:t>
            </a:r>
            <a:endParaRPr/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498735"/>
            <a:ext cx="6858000" cy="2590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Machine Translation</a:t>
            </a:r>
            <a:endParaRPr/>
          </a:p>
        </p:txBody>
      </p:sp>
      <p:pic>
        <p:nvPicPr>
          <p:cNvPr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2447" y="1299489"/>
            <a:ext cx="5679123" cy="295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Recuperação de Informação</a:t>
            </a:r>
            <a:endParaRPr/>
          </a:p>
        </p:txBody>
      </p:sp>
      <p:pic>
        <p:nvPicPr>
          <p:cNvPr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3264" y="1063229"/>
            <a:ext cx="3923649" cy="3817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Geração de Texto</a:t>
            </a:r>
            <a:endParaRPr/>
          </a:p>
        </p:txBody>
      </p:sp>
      <p:pic>
        <p:nvPicPr>
          <p:cNvPr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774659"/>
            <a:ext cx="6857999" cy="1415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