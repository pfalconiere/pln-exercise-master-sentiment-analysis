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embeddedFontLst>
    <p:embeddedFont>
      <p:font typeface="Play"/>
      <p:regular r:id="rId44"/>
      <p:bold r:id="rId45"/>
    </p:embeddedFont>
    <p:embeddedFont>
      <p:font typeface="Roboto"/>
      <p:regular r:id="rId46"/>
      <p:bold r:id="rId47"/>
      <p:italic r:id="rId48"/>
      <p:boldItalic r:id="rId49"/>
    </p:embeddedFont>
    <p:embeddedFont>
      <p:font typeface="Montserrat"/>
      <p:regular r:id="rId50"/>
      <p:bold r:id="rId51"/>
      <p:italic r:id="rId52"/>
      <p:boldItalic r:id="rId53"/>
    </p:embeddedFont>
    <p:embeddedFont>
      <p:font typeface="Lato Light"/>
      <p:regular r:id="rId54"/>
      <p:bold r:id="rId55"/>
      <p:italic r:id="rId56"/>
      <p:boldItalic r:id="rId57"/>
    </p:embeddedFont>
    <p:embeddedFont>
      <p:font typeface="Open Sans ExtraBold"/>
      <p:bold r:id="rId58"/>
      <p:boldItalic r:id="rId59"/>
    </p:embeddedFont>
    <p:embeddedFont>
      <p:font typeface="Helvetica Neue"/>
      <p:regular r:id="rId60"/>
      <p:bold r:id="rId61"/>
      <p:italic r:id="rId62"/>
      <p:boldItalic r:id="rId63"/>
    </p:embeddedFont>
    <p:embeddedFont>
      <p:font typeface="DM Sans"/>
      <p:regular r:id="rId64"/>
      <p:bold r:id="rId65"/>
      <p:italic r:id="rId66"/>
      <p:boldItalic r:id="rId67"/>
    </p:embeddedFont>
    <p:embeddedFont>
      <p:font typeface="Open Sans Light"/>
      <p:regular r:id="rId68"/>
      <p:bold r:id="rId69"/>
      <p:italic r:id="rId70"/>
      <p:boldItalic r:id="rId71"/>
    </p:embeddedFont>
    <p:embeddedFont>
      <p:font typeface="Open Sans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76" roundtripDataSignature="AMtx7mjBBfO+X6IjRnLugsQiZsUoVdNP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657342-4FDF-4332-ADA2-0F736C8F8BED}">
  <a:tblStyle styleId="{9A657342-4FDF-4332-ADA2-0F736C8F8BE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Play-regular.fntdata"/><Relationship Id="rId43" Type="http://schemas.openxmlformats.org/officeDocument/2006/relationships/slide" Target="slides/slide37.xml"/><Relationship Id="rId46" Type="http://schemas.openxmlformats.org/officeDocument/2006/relationships/font" Target="fonts/Roboto-regular.fntdata"/><Relationship Id="rId45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-bold.fntdata"/><Relationship Id="rId72" Type="http://schemas.openxmlformats.org/officeDocument/2006/relationships/font" Target="fonts/OpenSans-regular.fntdata"/><Relationship Id="rId31" Type="http://schemas.openxmlformats.org/officeDocument/2006/relationships/slide" Target="slides/slide25.xml"/><Relationship Id="rId75" Type="http://schemas.openxmlformats.org/officeDocument/2006/relationships/font" Target="fonts/OpenSans-boldItalic.fntdata"/><Relationship Id="rId30" Type="http://schemas.openxmlformats.org/officeDocument/2006/relationships/slide" Target="slides/slide24.xml"/><Relationship Id="rId74" Type="http://schemas.openxmlformats.org/officeDocument/2006/relationships/font" Target="fonts/OpenSans-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76" Type="http://customschemas.google.com/relationships/presentationmetadata" Target="meta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Light-boldItalic.fntdata"/><Relationship Id="rId70" Type="http://schemas.openxmlformats.org/officeDocument/2006/relationships/font" Target="fonts/OpenSansLight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HelveticaNeue-italic.fntdata"/><Relationship Id="rId61" Type="http://schemas.openxmlformats.org/officeDocument/2006/relationships/font" Target="fonts/HelveticaNeue-bold.fntdata"/><Relationship Id="rId20" Type="http://schemas.openxmlformats.org/officeDocument/2006/relationships/slide" Target="slides/slide14.xml"/><Relationship Id="rId64" Type="http://schemas.openxmlformats.org/officeDocument/2006/relationships/font" Target="fonts/DMSans-regular.fntdata"/><Relationship Id="rId63" Type="http://schemas.openxmlformats.org/officeDocument/2006/relationships/font" Target="fonts/HelveticaNeue-boldItalic.fntdata"/><Relationship Id="rId22" Type="http://schemas.openxmlformats.org/officeDocument/2006/relationships/slide" Target="slides/slide16.xml"/><Relationship Id="rId66" Type="http://schemas.openxmlformats.org/officeDocument/2006/relationships/font" Target="fonts/DMSans-italic.fntdata"/><Relationship Id="rId21" Type="http://schemas.openxmlformats.org/officeDocument/2006/relationships/slide" Target="slides/slide15.xml"/><Relationship Id="rId65" Type="http://schemas.openxmlformats.org/officeDocument/2006/relationships/font" Target="fonts/DMSans-bold.fntdata"/><Relationship Id="rId24" Type="http://schemas.openxmlformats.org/officeDocument/2006/relationships/slide" Target="slides/slide18.xml"/><Relationship Id="rId68" Type="http://schemas.openxmlformats.org/officeDocument/2006/relationships/font" Target="fonts/OpenSansLight-regular.fntdata"/><Relationship Id="rId23" Type="http://schemas.openxmlformats.org/officeDocument/2006/relationships/slide" Target="slides/slide17.xml"/><Relationship Id="rId67" Type="http://schemas.openxmlformats.org/officeDocument/2006/relationships/font" Target="fonts/DMSans-boldItalic.fntdata"/><Relationship Id="rId60" Type="http://schemas.openxmlformats.org/officeDocument/2006/relationships/font" Target="fonts/HelveticaNeue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Light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bold.fntdata"/><Relationship Id="rId50" Type="http://schemas.openxmlformats.org/officeDocument/2006/relationships/font" Target="fonts/Montserrat-regular.fntdata"/><Relationship Id="rId53" Type="http://schemas.openxmlformats.org/officeDocument/2006/relationships/font" Target="fonts/Montserrat-boldItalic.fntdata"/><Relationship Id="rId52" Type="http://schemas.openxmlformats.org/officeDocument/2006/relationships/font" Target="fonts/Montserrat-italic.fntdata"/><Relationship Id="rId11" Type="http://schemas.openxmlformats.org/officeDocument/2006/relationships/slide" Target="slides/slide5.xml"/><Relationship Id="rId55" Type="http://schemas.openxmlformats.org/officeDocument/2006/relationships/font" Target="fonts/LatoLight-bold.fntdata"/><Relationship Id="rId10" Type="http://schemas.openxmlformats.org/officeDocument/2006/relationships/slide" Target="slides/slide4.xml"/><Relationship Id="rId54" Type="http://schemas.openxmlformats.org/officeDocument/2006/relationships/font" Target="fonts/LatoLight-regular.fntdata"/><Relationship Id="rId13" Type="http://schemas.openxmlformats.org/officeDocument/2006/relationships/slide" Target="slides/slide7.xml"/><Relationship Id="rId57" Type="http://schemas.openxmlformats.org/officeDocument/2006/relationships/font" Target="fonts/LatoLight-boldItalic.fntdata"/><Relationship Id="rId12" Type="http://schemas.openxmlformats.org/officeDocument/2006/relationships/slide" Target="slides/slide6.xml"/><Relationship Id="rId56" Type="http://schemas.openxmlformats.org/officeDocument/2006/relationships/font" Target="fonts/LatoLight-italic.fntdata"/><Relationship Id="rId15" Type="http://schemas.openxmlformats.org/officeDocument/2006/relationships/slide" Target="slides/slide9.xml"/><Relationship Id="rId59" Type="http://schemas.openxmlformats.org/officeDocument/2006/relationships/font" Target="fonts/OpenSansExtraBold-boldItalic.fntdata"/><Relationship Id="rId14" Type="http://schemas.openxmlformats.org/officeDocument/2006/relationships/slide" Target="slides/slide8.xml"/><Relationship Id="rId58" Type="http://schemas.openxmlformats.org/officeDocument/2006/relationships/font" Target="fonts/OpenSansExtra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lay"/>
              <a:buNone/>
              <a:defRPr b="0" i="1" sz="3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TITLE_1_1_1_2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6"/>
          <p:cNvSpPr txBox="1"/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6"/>
          <p:cNvSpPr txBox="1"/>
          <p:nvPr>
            <p:ph idx="1" type="body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FF3E03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92100" lvl="1" marL="9144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92100" lvl="2" marL="13716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92100" lvl="3" marL="18288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92100" lvl="4" marL="22860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92100" lvl="5" marL="2743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292100" lvl="6" marL="32004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292100" lvl="8" marL="41148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 txBox="1"/>
          <p:nvPr>
            <p:ph type="ctrTitle"/>
          </p:nvPr>
        </p:nvSpPr>
        <p:spPr>
          <a:xfrm>
            <a:off x="1143000" y="841772"/>
            <a:ext cx="6858000" cy="22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"/>
              <a:buNone/>
              <a:defRPr b="0" i="1" sz="5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7"/>
          <p:cNvSpPr txBox="1"/>
          <p:nvPr>
            <p:ph idx="1" type="subTitle"/>
          </p:nvPr>
        </p:nvSpPr>
        <p:spPr>
          <a:xfrm>
            <a:off x="1143000" y="3290047"/>
            <a:ext cx="68580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1" name="Google Shape;31;p47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2" name="Google Shape;32;p47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3" name="Google Shape;33;p47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 txBox="1"/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077"/>
              </a:buClr>
              <a:buSzPts val="1800"/>
              <a:buFont typeface="Montserrat"/>
              <a:buNone/>
              <a:defRPr b="1" i="0" sz="1800" u="none" cap="none" strike="noStrike">
                <a:solidFill>
                  <a:srgbClr val="0060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8"/>
          <p:cNvSpPr txBox="1"/>
          <p:nvPr>
            <p:ph idx="1" type="body"/>
          </p:nvPr>
        </p:nvSpPr>
        <p:spPr>
          <a:xfrm>
            <a:off x="0" y="837506"/>
            <a:ext cx="9144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205725" spcFirstLastPara="1" rIns="342900" wrap="square" tIns="34275">
            <a:sp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7" name="Google Shape;37;p48"/>
          <p:cNvSpPr txBox="1"/>
          <p:nvPr>
            <p:ph idx="12" type="sldNum"/>
          </p:nvPr>
        </p:nvSpPr>
        <p:spPr>
          <a:xfrm>
            <a:off x="8675077" y="4938355"/>
            <a:ext cx="265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9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lay"/>
              <a:buNone/>
              <a:defRPr b="0" i="1" sz="3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9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1" name="Google Shape;41;p49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2" name="Google Shape;42;p49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1_1_1_2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0"/>
          <p:cNvSpPr txBox="1"/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50"/>
          <p:cNvSpPr txBox="1"/>
          <p:nvPr>
            <p:ph idx="1" type="body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92100" lvl="1" marL="9144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92100" lvl="2" marL="13716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92100" lvl="3" marL="18288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92100" lvl="4" marL="22860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92100" lvl="5" marL="2743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292100" lvl="6" marL="32004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292100" lvl="8" marL="41148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E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st.github.com/alopes/5358189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jp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9.jpg"/><Relationship Id="rId5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code.google.com/p/word2vec/" TargetMode="External"/><Relationship Id="rId4" Type="http://schemas.openxmlformats.org/officeDocument/2006/relationships/hyperlink" Target="http://nlp.stanford.edu/projects/glove/" TargetMode="External"/><Relationship Id="rId5" Type="http://schemas.openxmlformats.org/officeDocument/2006/relationships/hyperlink" Target="https://fasttext.cc/" TargetMode="External"/><Relationship Id="rId6" Type="http://schemas.openxmlformats.org/officeDocument/2006/relationships/hyperlink" Target="https://radimrehurek.com/gensim/models/doc2vec.html" TargetMode="External"/><Relationship Id="rId7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colab.research.google.com/drive/1zmtNwFVD8sOPAVh_69I9ZHptRh-3Vd_p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/>
          <p:nvPr/>
        </p:nvSpPr>
        <p:spPr>
          <a:xfrm>
            <a:off x="-45425" y="-27250"/>
            <a:ext cx="9189300" cy="5170800"/>
          </a:xfrm>
          <a:prstGeom prst="rect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b="28921" l="0" r="0" t="0"/>
          <a:stretch/>
        </p:blipFill>
        <p:spPr>
          <a:xfrm>
            <a:off x="466331" y="449997"/>
            <a:ext cx="1183898" cy="75162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/>
          <p:nvPr/>
        </p:nvSpPr>
        <p:spPr>
          <a:xfrm rot="-5400000">
            <a:off x="7507635" y="216486"/>
            <a:ext cx="905796" cy="18117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7054565" y="1885087"/>
            <a:ext cx="1812000" cy="1812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1"/>
          <p:cNvSpPr/>
          <p:nvPr/>
        </p:nvSpPr>
        <p:spPr>
          <a:xfrm rot="5400000">
            <a:off x="5403061" y="87049"/>
            <a:ext cx="905796" cy="18117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66325" y="1800300"/>
            <a:ext cx="81654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pt-BR" sz="3400" u="none" cap="none" strike="noStrike">
                <a:solidFill>
                  <a:srgbClr val="F7F6E2"/>
                </a:solidFill>
                <a:latin typeface="DM Sans"/>
                <a:ea typeface="DM Sans"/>
                <a:cs typeface="DM Sans"/>
                <a:sym typeface="DM Sans"/>
              </a:rPr>
              <a:t>Pré-processamento e Representação Textual</a:t>
            </a:r>
            <a:endParaRPr b="1" i="0" sz="3400" u="none" cap="none" strike="noStrike">
              <a:solidFill>
                <a:srgbClr val="F7F6E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857250" y="1130376"/>
            <a:ext cx="7429500" cy="3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Pré-processamento de texto</a:t>
            </a:r>
            <a:endParaRPr/>
          </a:p>
          <a:p>
            <a:pPr indent="-2921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Representação textual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58750" lvl="0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Tokenização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857250" y="1130376"/>
            <a:ext cx="7429500" cy="3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Quantas palavras existem nesta sentença falada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"I do uh main- mainly business data processing"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Quebrar sequência de caracteres em palavras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Exemplo de abordagem simples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Qualquer sequência de caracteres alfanuméricos de tamanho mínimo 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Terminado em espaço ou algum caracter especial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Letras maiúsculas convertidas para minúsculas</a:t>
            </a:r>
            <a:endParaRPr/>
          </a:p>
          <a:p>
            <a:pPr indent="-2921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 1: “Bigcorp’s 2007 bi-annual report showed profits rose 10%” -&gt; “bigcorp 2007 annual report showed profits rose”</a:t>
            </a:r>
            <a:endParaRPr/>
          </a:p>
          <a:p>
            <a:pPr indent="-158750" lvl="0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Problemas em Tokenização</a:t>
            </a:r>
            <a:endParaRPr i="0"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 txBox="1"/>
          <p:nvPr>
            <p:ph idx="1" type="body"/>
          </p:nvPr>
        </p:nvSpPr>
        <p:spPr>
          <a:xfrm>
            <a:off x="857250" y="1130374"/>
            <a:ext cx="74295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Palavras pequenas podem ser importantes em algumas consultas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Ex: am, pm, el (paso), (world war) II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Hífens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Algumas vezes são necessários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Ex: e-bay, wal-mart, cd-rom, t-shirts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Separam palavras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Ex:  Dallas-Fort Worth, spanish-speaking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Problemas em Tokenização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 txBox="1"/>
          <p:nvPr>
            <p:ph idx="1" type="body"/>
          </p:nvPr>
        </p:nvSpPr>
        <p:spPr>
          <a:xfrm>
            <a:off x="857250" y="1130374"/>
            <a:ext cx="74295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Caracteres especiais são importantes para URL, tags e código em documentos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Palavras com letras maiúsculas podem ter significados diferentes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Bush, Apple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Apóstrofo pode ser parte de uma palavra, parte de um possessivo (inglês), ou erro</a:t>
            </a:r>
            <a:endParaRPr/>
          </a:p>
        </p:txBody>
      </p:sp>
      <p:pic>
        <p:nvPicPr>
          <p:cNvPr id="80" name="Google Shape;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0964" y="3447199"/>
            <a:ext cx="5997853" cy="891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Problemas em Tokenização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857250" y="1130374"/>
            <a:ext cx="74295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Números podem ser importantes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Ex: nokia 3250, united 93, quicktime 6.5 pro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Pontos podem estar em números, abreviações, URLs, fim de sentenças etc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Ex: I.B.M., Ph.D.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Tokenização em Outras Línguas: Chinês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 txBox="1"/>
          <p:nvPr>
            <p:ph idx="1" type="body"/>
          </p:nvPr>
        </p:nvSpPr>
        <p:spPr>
          <a:xfrm>
            <a:off x="857250" y="1130374"/>
            <a:ext cx="74295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4FE"/>
              </a:buClr>
              <a:buSzPct val="100000"/>
              <a:buNone/>
            </a:pPr>
            <a:r>
              <a:rPr lang="pt-BR" sz="4500">
                <a:solidFill>
                  <a:srgbClr val="0044F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姚明进入总决赛  </a:t>
            </a:r>
            <a:r>
              <a:rPr lang="pt-BR" sz="4500">
                <a:solidFill>
                  <a:srgbClr val="0044FE"/>
                </a:solidFill>
              </a:rPr>
              <a:t>“Yao Ming reaches the finals”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500"/>
              <a:t>3 palavras?</a:t>
            </a:r>
            <a:endParaRPr sz="4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4FE"/>
              </a:buClr>
              <a:buSzPct val="100000"/>
              <a:buNone/>
            </a:pPr>
            <a:r>
              <a:rPr lang="pt-BR" sz="4500">
                <a:solidFill>
                  <a:srgbClr val="0044F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姚明        进入      总决赛 </a:t>
            </a:r>
            <a:endParaRPr sz="4500">
              <a:solidFill>
                <a:srgbClr val="0044F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500">
                <a:solidFill>
                  <a:schemeClr val="dk1"/>
                </a:solidFill>
              </a:rPr>
              <a:t>YaoMing  reaches  finals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500"/>
              <a:t>5 palavras?</a:t>
            </a:r>
            <a:endParaRPr sz="4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4FE"/>
              </a:buClr>
              <a:buSzPct val="100000"/>
              <a:buNone/>
            </a:pPr>
            <a:r>
              <a:rPr lang="pt-BR" sz="4500">
                <a:solidFill>
                  <a:srgbClr val="0044F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姚       明      进入         总          决赛 </a:t>
            </a:r>
            <a:endParaRPr sz="4500">
              <a:solidFill>
                <a:srgbClr val="0044FE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500"/>
              <a:t>Yao    Ming    reaches    overall    finals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500"/>
              <a:t>7 caracteres? </a:t>
            </a:r>
            <a:endParaRPr sz="4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4FE"/>
              </a:buClr>
              <a:buSzPct val="100000"/>
              <a:buNone/>
            </a:pPr>
            <a:r>
              <a:rPr lang="pt-BR" sz="4500">
                <a:solidFill>
                  <a:srgbClr val="0044F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姚   明        进      入       总         决         赛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4500"/>
              <a:t>Yao Ming enter enter overall decision game</a:t>
            </a:r>
            <a:endParaRPr/>
          </a:p>
          <a:p>
            <a:pPr indent="-273050" lvl="0" marL="34290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Tokenização: Ambiguidade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625" y="1187836"/>
            <a:ext cx="6858000" cy="3544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Tokenização Sem Espaço em Branco: Turco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 txBox="1"/>
          <p:nvPr>
            <p:ph idx="1" type="body"/>
          </p:nvPr>
        </p:nvSpPr>
        <p:spPr>
          <a:xfrm>
            <a:off x="857250" y="1130374"/>
            <a:ext cx="74295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29718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•"/>
            </a:pPr>
            <a:r>
              <a:rPr lang="pt-BR" sz="2400">
                <a:solidFill>
                  <a:srgbClr val="FF0000"/>
                </a:solidFill>
              </a:rPr>
              <a:t>Uygarlastiramadiklarimizdanmissinizcasina</a:t>
            </a:r>
            <a:endParaRPr sz="2400">
              <a:solidFill>
                <a:srgbClr val="FF0000"/>
              </a:solidFill>
            </a:endParaRPr>
          </a:p>
          <a:p>
            <a:pPr indent="0" lvl="0" marL="6858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83333"/>
              <a:buNone/>
            </a:pPr>
            <a:r>
              <a:rPr lang="pt-BR" sz="2400"/>
              <a:t>`(behaving) as if you are among those whom we could not civilize’</a:t>
            </a:r>
            <a:endParaRPr/>
          </a:p>
          <a:p>
            <a:pPr indent="-29718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pt-BR" sz="2400">
                <a:solidFill>
                  <a:srgbClr val="FF0000"/>
                </a:solidFill>
              </a:rPr>
              <a:t>Uygar </a:t>
            </a:r>
            <a:r>
              <a:rPr lang="pt-BR" sz="2400"/>
              <a:t>`civilized’ + </a:t>
            </a:r>
            <a:r>
              <a:rPr lang="pt-BR" sz="2400">
                <a:solidFill>
                  <a:srgbClr val="FF0000"/>
                </a:solidFill>
              </a:rPr>
              <a:t>las </a:t>
            </a:r>
            <a:r>
              <a:rPr lang="pt-BR" sz="2400"/>
              <a:t>`become’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33333"/>
              <a:buFont typeface="Noto Sans Symbols"/>
              <a:buNone/>
            </a:pPr>
            <a:r>
              <a:rPr lang="pt-BR"/>
              <a:t>+ </a:t>
            </a:r>
            <a:r>
              <a:rPr lang="pt-BR">
                <a:solidFill>
                  <a:srgbClr val="FF0000"/>
                </a:solidFill>
              </a:rPr>
              <a:t>tir </a:t>
            </a:r>
            <a:r>
              <a:rPr lang="pt-BR"/>
              <a:t>`cause’ + </a:t>
            </a:r>
            <a:r>
              <a:rPr lang="pt-BR">
                <a:solidFill>
                  <a:srgbClr val="FF0000"/>
                </a:solidFill>
              </a:rPr>
              <a:t>ama </a:t>
            </a:r>
            <a:r>
              <a:rPr lang="pt-BR"/>
              <a:t>`not able’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33333"/>
              <a:buFont typeface="Noto Sans Symbols"/>
              <a:buNone/>
            </a:pPr>
            <a:r>
              <a:rPr lang="pt-BR"/>
              <a:t>+ </a:t>
            </a:r>
            <a:r>
              <a:rPr lang="pt-BR">
                <a:solidFill>
                  <a:srgbClr val="FF0000"/>
                </a:solidFill>
              </a:rPr>
              <a:t>dik </a:t>
            </a:r>
            <a:r>
              <a:rPr lang="pt-BR"/>
              <a:t>`past’ + </a:t>
            </a:r>
            <a:r>
              <a:rPr lang="pt-BR">
                <a:solidFill>
                  <a:srgbClr val="FF0000"/>
                </a:solidFill>
              </a:rPr>
              <a:t>lar </a:t>
            </a:r>
            <a:r>
              <a:rPr lang="pt-BR"/>
              <a:t>‘plural’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33333"/>
              <a:buFont typeface="Noto Sans Symbols"/>
              <a:buNone/>
            </a:pPr>
            <a:r>
              <a:rPr lang="pt-BR"/>
              <a:t>+ </a:t>
            </a:r>
            <a:r>
              <a:rPr lang="pt-BR">
                <a:solidFill>
                  <a:srgbClr val="FF0000"/>
                </a:solidFill>
              </a:rPr>
              <a:t>imiz </a:t>
            </a:r>
            <a:r>
              <a:rPr lang="pt-BR"/>
              <a:t>‘p1pl’ + </a:t>
            </a:r>
            <a:r>
              <a:rPr lang="pt-BR">
                <a:solidFill>
                  <a:srgbClr val="FF0000"/>
                </a:solidFill>
              </a:rPr>
              <a:t>dan </a:t>
            </a:r>
            <a:r>
              <a:rPr lang="pt-BR"/>
              <a:t>‘abl’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33333"/>
              <a:buFont typeface="Noto Sans Symbols"/>
              <a:buNone/>
            </a:pPr>
            <a:r>
              <a:rPr lang="pt-BR"/>
              <a:t>+ </a:t>
            </a:r>
            <a:r>
              <a:rPr lang="pt-BR">
                <a:solidFill>
                  <a:srgbClr val="FF0000"/>
                </a:solidFill>
              </a:rPr>
              <a:t>mis </a:t>
            </a:r>
            <a:r>
              <a:rPr lang="pt-BR"/>
              <a:t>‘past’ + </a:t>
            </a:r>
            <a:r>
              <a:rPr lang="pt-BR">
                <a:solidFill>
                  <a:srgbClr val="FF0000"/>
                </a:solidFill>
              </a:rPr>
              <a:t>siniz </a:t>
            </a:r>
            <a:r>
              <a:rPr lang="pt-BR"/>
              <a:t>‘2pl’ + </a:t>
            </a:r>
            <a:r>
              <a:rPr lang="pt-BR">
                <a:solidFill>
                  <a:srgbClr val="FF0000"/>
                </a:solidFill>
              </a:rPr>
              <a:t>casina </a:t>
            </a:r>
            <a:r>
              <a:rPr lang="pt-BR"/>
              <a:t>‘as if’ </a:t>
            </a:r>
            <a:endParaRPr/>
          </a:p>
          <a:p>
            <a:pPr indent="-190500" lvl="1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Processo de Tokenização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57250" y="1130374"/>
            <a:ext cx="74295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Simples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Palavra é qualquer sequência de caracters alfa-numéricos terminado por espaço ou caracter especial, tudo convertido para minúsculo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Stanford tokenizer para inglês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http://nlp.stanford.edu/software/tokenizer.shtml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Stopwords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57250" y="1130375"/>
            <a:ext cx="7429500" cy="3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Palavras que aparecem muito na coleção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Não possuem muito significado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Usualmente, não são boas para diferenciar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Artigos,  preposições, conjunções etc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Criadas a partir de palavras com alta frequência ou de listas existentes</a:t>
            </a:r>
            <a:endParaRPr/>
          </a:p>
          <a:p>
            <a:pPr indent="-292100" lvl="1" marL="685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https://gist.github.com/alopes/5358189</a:t>
            </a:r>
            <a:endParaRPr/>
          </a:p>
          <a:p>
            <a:pPr indent="-2921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Podem ser customizadas por aplicação e domínio</a:t>
            </a:r>
            <a:endParaRPr/>
          </a:p>
          <a:p>
            <a:pPr indent="-292100" lvl="1" marL="685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“Click” é uma stopword para âncoras</a:t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Stemming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2"/>
          <p:cNvSpPr txBox="1"/>
          <p:nvPr>
            <p:ph idx="1" type="body"/>
          </p:nvPr>
        </p:nvSpPr>
        <p:spPr>
          <a:xfrm>
            <a:off x="857250" y="1130374"/>
            <a:ext cx="74295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Reduz variações morfológicas das palavras para um stem em comum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Remove prefixo ou sufixo -&gt; 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Ex: connect – connected, connecting, connection, connections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Não há um consenso sobre benefícios (depende da língua)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Porter Stemmer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 txBox="1"/>
          <p:nvPr>
            <p:ph idx="1" type="body"/>
          </p:nvPr>
        </p:nvSpPr>
        <p:spPr>
          <a:xfrm>
            <a:off x="857250" y="1130376"/>
            <a:ext cx="7429500" cy="3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Consiste de uma série de regras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Comete erros e difícil de modificar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9078" y="1998105"/>
            <a:ext cx="4983105" cy="1674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rgbClr val="FF3E03"/>
                </a:solidFill>
              </a:rPr>
              <a:t>Motivação</a:t>
            </a:r>
            <a:endParaRPr sz="2420">
              <a:solidFill>
                <a:srgbClr val="FF3E03"/>
              </a:solidFill>
            </a:endParaRPr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Char char="●"/>
            </a:pPr>
            <a:r>
              <a:rPr lang="pt-BR"/>
              <a:t>Textos, palavras, suas sintaxes ou significados semânticos não são entendidos por máquinas (computadores)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Char char="●"/>
            </a:pPr>
            <a:r>
              <a:rPr lang="pt-BR"/>
              <a:t>Necessário transformar o texto em números</a:t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0" l="0" r="30924" t="0"/>
          <a:stretch/>
        </p:blipFill>
        <p:spPr>
          <a:xfrm>
            <a:off x="2634346" y="2571750"/>
            <a:ext cx="38753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57250" y="300038"/>
            <a:ext cx="7429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i="0" lang="pt-BR" sz="2400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i="0" sz="2400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857250" y="1130376"/>
            <a:ext cx="7429500" cy="3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Pré-processamento de texto</a:t>
            </a:r>
            <a:endParaRPr/>
          </a:p>
          <a:p>
            <a:pPr indent="-2921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pt-BR">
                <a:latin typeface="Open Sans"/>
                <a:ea typeface="Open Sans"/>
                <a:cs typeface="Open Sans"/>
                <a:sym typeface="Open Sans"/>
              </a:rPr>
              <a:t>Representação textual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58750" lvl="0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/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Representação Categórica</a:t>
            </a:r>
            <a:endParaRPr b="0" i="0" sz="4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pt-BR" sz="4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One-hot encoding</a:t>
            </a:r>
            <a:endParaRPr b="0" i="0" sz="4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 rot="10800000">
            <a:off x="7347585" y="3347093"/>
            <a:ext cx="1796406" cy="1796406"/>
          </a:xfrm>
          <a:custGeom>
            <a:rect b="b" l="l" r="r" t="t"/>
            <a:pathLst>
              <a:path extrusionOk="0" h="208763" w="208763">
                <a:moveTo>
                  <a:pt x="0" y="0"/>
                </a:moveTo>
                <a:lnTo>
                  <a:pt x="0" y="208763"/>
                </a:lnTo>
                <a:cubicBezTo>
                  <a:pt x="115295" y="208763"/>
                  <a:pt x="208763" y="115295"/>
                  <a:pt x="208763" y="0"/>
                </a:cubicBez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One Hot Encoding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311700" y="1228050"/>
            <a:ext cx="8520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Cada palavra é mapeada para uma dimensão de um vetor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vetor gerado é a representação da palavra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Abordagem simples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30924" t="0"/>
          <a:stretch/>
        </p:blipFill>
        <p:spPr>
          <a:xfrm>
            <a:off x="2634346" y="2491525"/>
            <a:ext cx="38753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One Hot Encoding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4452850" y="265025"/>
            <a:ext cx="221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330"/>
              <a:buFont typeface="Arial"/>
              <a:buNone/>
            </a:pPr>
            <a:r>
              <a:rPr b="0" i="0" lang="pt-BR" sz="133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Dimensionalidade do tamanho do vocabulário</a:t>
            </a:r>
            <a:endParaRPr b="0" i="0" sz="133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7675" y="1517200"/>
            <a:ext cx="3954625" cy="122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010900" y="2737400"/>
            <a:ext cx="38214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Palavras similares podem apresentar representações muito diferentes</a:t>
            </a:r>
            <a:endParaRPr b="0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464100" y="3580525"/>
            <a:ext cx="60366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"o brasil sediou a copa"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{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[1,0,0,0,0,0],[0,1,0,0,0,0], [0,0,1,0,0,0], [0,0,0,0,1,0], [0,0,0,0,0,1]</a:t>
            </a: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"o brasil perdeu a copa"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[1,0,0,0,0,0],[0,1,0,0,0,0], [0,0,0,1,0,0], [0,0,0,0,1,0], [0,0,0,0,0,1]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396300" y="1199088"/>
            <a:ext cx="41757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V: {o, brasil, sediou, perdeu, a, copa}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Codificação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o: 		[1,0,0,0,0,0]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brasil: 	[0,1,0,0,0,0]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sediou: 	[0,0,1,0,0,0]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perdeu: 	[0,0,0,1,0,0]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		[0,0,0,0,1,0]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Copa:	[0,0,0,0,0,1]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18"/>
          <p:cNvCxnSpPr>
            <a:stCxn id="165" idx="1"/>
          </p:cNvCxnSpPr>
          <p:nvPr/>
        </p:nvCxnSpPr>
        <p:spPr>
          <a:xfrm flipH="1">
            <a:off x="2658250" y="551375"/>
            <a:ext cx="1794600" cy="1908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/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pt-BR" sz="26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Representação Baseada em Pesos</a:t>
            </a:r>
            <a:endParaRPr b="0" i="0" sz="26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pt-BR" sz="4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Bag-of-Words</a:t>
            </a:r>
            <a:endParaRPr b="0" i="0" sz="4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 rot="10800000">
            <a:off x="7347585" y="3347093"/>
            <a:ext cx="1796406" cy="1796406"/>
          </a:xfrm>
          <a:custGeom>
            <a:rect b="b" l="l" r="r" t="t"/>
            <a:pathLst>
              <a:path extrusionOk="0" h="208763" w="208763">
                <a:moveTo>
                  <a:pt x="0" y="0"/>
                </a:moveTo>
                <a:lnTo>
                  <a:pt x="0" y="208763"/>
                </a:lnTo>
                <a:cubicBezTo>
                  <a:pt x="115295" y="208763"/>
                  <a:pt x="208763" y="115295"/>
                  <a:pt x="208763" y="0"/>
                </a:cubicBez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Bag of Words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11700" y="1152475"/>
            <a:ext cx="3732000" cy="3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500"/>
              <a:buFont typeface="Arial"/>
              <a:buChar char="●"/>
            </a:pPr>
            <a:r>
              <a:rPr b="0" i="0" lang="pt-BR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Não preserva a ordem das palavras no documento</a:t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500"/>
              <a:buFont typeface="Arial"/>
              <a:buChar char="●"/>
            </a:pPr>
            <a:r>
              <a:rPr b="0" i="0" lang="pt-BR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Cada documento é representado por um vetor</a:t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500"/>
              <a:buFont typeface="Arial"/>
              <a:buChar char="●"/>
            </a:pPr>
            <a:r>
              <a:rPr b="0" i="0" lang="pt-BR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Dimensionalidade: </a:t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○"/>
            </a:pPr>
            <a:r>
              <a:rPr b="0" i="0" lang="pt-BR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Tamanho do vocabulário</a:t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Arial"/>
              <a:buChar char="○"/>
            </a:pPr>
            <a:r>
              <a:rPr b="0" i="0" lang="pt-BR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Cada palavra tem um peso</a:t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500"/>
              <a:buFont typeface="Arial"/>
              <a:buChar char="●"/>
            </a:pPr>
            <a:r>
              <a:rPr b="0" i="0" lang="pt-BR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Simples e efetivo</a:t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500"/>
              <a:buFont typeface="Arial"/>
              <a:buChar char="●"/>
            </a:pPr>
            <a:r>
              <a:rPr b="0" i="0" lang="pt-BR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Considera apenas o aspecto léxico das unidades linguísticas</a:t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500"/>
              <a:buFont typeface="Arial"/>
              <a:buChar char="●"/>
            </a:pPr>
            <a:r>
              <a:rPr b="0" i="0" lang="pt-BR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Não modela similaridade semântica</a:t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176075" y="1422100"/>
            <a:ext cx="4845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"the cat sat on the hat"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"the dog ate the cat and the hat"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4176000" y="234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{9A657342-4FDF-4332-ADA2-0F736C8F8BED}</a:tableStyleId>
              </a:tblPr>
              <a:tblGrid>
                <a:gridCol w="687400"/>
                <a:gridCol w="4157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V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000000"/>
                          </a:solidFill>
                        </a:rPr>
                        <a:t>[the, cat, sat, on, hat, dog, ate, and]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</a:t>
                      </a:r>
                      <a:r>
                        <a:rPr baseline="-25000" lang="pt-BR" sz="1400" u="none" cap="none" strike="noStrike"/>
                        <a:t>1</a:t>
                      </a:r>
                      <a:endParaRPr baseline="-25000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000000"/>
                          </a:solidFill>
                        </a:rPr>
                        <a:t>[2,     1,    1,    1,   1,     0,     0,    0]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/>
                        <a:t>D</a:t>
                      </a:r>
                      <a:r>
                        <a:rPr baseline="-25000" lang="pt-BR" sz="1400" u="none" cap="none" strike="noStrike"/>
                        <a:t>2</a:t>
                      </a:r>
                      <a:endParaRPr baseline="-25000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000000"/>
                          </a:solidFill>
                        </a:rPr>
                        <a:t>[3,     1,    0,    0,   1,     1,     1,    1]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Aprendizagem de </a:t>
            </a:r>
            <a:endParaRPr b="0" i="0" sz="32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Representação de Palavras</a:t>
            </a:r>
            <a:endParaRPr b="0" i="0" sz="32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pt-BR" sz="4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 Embeddings</a:t>
            </a:r>
            <a:endParaRPr b="0" i="0" sz="4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 rot="10800000">
            <a:off x="7347585" y="3347093"/>
            <a:ext cx="1796406" cy="1796406"/>
          </a:xfrm>
          <a:custGeom>
            <a:rect b="b" l="l" r="r" t="t"/>
            <a:pathLst>
              <a:path extrusionOk="0" h="208763" w="208763">
                <a:moveTo>
                  <a:pt x="0" y="0"/>
                </a:moveTo>
                <a:lnTo>
                  <a:pt x="0" y="208763"/>
                </a:lnTo>
                <a:cubicBezTo>
                  <a:pt x="115295" y="208763"/>
                  <a:pt x="208763" y="115295"/>
                  <a:pt x="208763" y="0"/>
                </a:cubicBez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/>
        </p:nvSpPr>
        <p:spPr>
          <a:xfrm>
            <a:off x="311700" y="445025"/>
            <a:ext cx="85206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Representation Learning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311700" y="1385525"/>
            <a:ext cx="8520600" cy="30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ct val="1000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Em modelos de ML, instâncias são representadas por características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ct val="1000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Motivação: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representação de instância/dados é essencial para modelos de ML eficazes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Menos dependente da engenharia de características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Redução de dimensionalidade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ct val="1000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Definição: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Conjunto de técnicas que aprendem uma </a:t>
            </a:r>
            <a:r>
              <a:rPr b="0" i="0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"melhor" </a:t>
            </a: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representação dos dados brutos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ct val="1000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Representação distribuída ou embeddings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Representação densa e de baixa dimensão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Dimensões não têm significado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/>
        </p:nvSpPr>
        <p:spPr>
          <a:xfrm>
            <a:off x="311700" y="445025"/>
            <a:ext cx="85206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Exemplo de Representation Learning: MLP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311700" y="1385525"/>
            <a:ext cx="8520600" cy="30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Diferentes níveis de abstração da entrada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1475" y="1799275"/>
            <a:ext cx="48196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/>
        </p:nvSpPr>
        <p:spPr>
          <a:xfrm>
            <a:off x="311700" y="445025"/>
            <a:ext cx="85206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Aprendizagem de Representação de Palavras: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 Embeddings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311700" y="1558700"/>
            <a:ext cx="8520600" cy="30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Representam qualquer unidade linguística como um vetor denso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Unidades: caracter, palavra, sentença ou documento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Mapeia o significado semântico em um espaço geométrico (espaço dos embeddings)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contexto de uma palavra pode ser mapeado em um vetor de baixa dimensionalidade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Palavras similares (em termos de contexto) estão próximas nesse espaço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/>
        </p:nvSpPr>
        <p:spPr>
          <a:xfrm>
            <a:off x="311700" y="445025"/>
            <a:ext cx="85206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Aprendizagem de Representação de Palavras: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 Embeddings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4325" y="1285075"/>
            <a:ext cx="4630694" cy="345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2208900" y="4703450"/>
            <a:ext cx="472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https://medium.com/@hari4om/word-embedding-d816f643140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/>
        </p:nvSpPr>
        <p:spPr>
          <a:xfrm>
            <a:off x="311700" y="1385525"/>
            <a:ext cx="74580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Técnicas para criação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Modelos baseado em frequência (LSI)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Modelos baseado em predição (redes neurais)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311700" y="445025"/>
            <a:ext cx="85206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Aprendizagem de Representação de Palavras: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 Embeddings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/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Word2Vec</a:t>
            </a:r>
            <a:endParaRPr b="0" i="0" sz="32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0" i="0" lang="pt-BR" sz="4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CBOW e Skip-gram 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/>
          <p:nvPr/>
        </p:nvSpPr>
        <p:spPr>
          <a:xfrm rot="10800000">
            <a:off x="7347585" y="3347093"/>
            <a:ext cx="1796406" cy="1796406"/>
          </a:xfrm>
          <a:custGeom>
            <a:rect b="b" l="l" r="r" t="t"/>
            <a:pathLst>
              <a:path extrusionOk="0" h="208763" w="208763">
                <a:moveTo>
                  <a:pt x="0" y="0"/>
                </a:moveTo>
                <a:lnTo>
                  <a:pt x="0" y="208763"/>
                </a:lnTo>
                <a:cubicBezTo>
                  <a:pt x="115295" y="208763"/>
                  <a:pt x="208763" y="115295"/>
                  <a:pt x="208763" y="0"/>
                </a:cubicBez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/>
        </p:nvSpPr>
        <p:spPr>
          <a:xfrm>
            <a:off x="311700" y="1864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b="0" i="0" lang="pt-BR" sz="232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Word2Vec: CBOW</a:t>
            </a:r>
            <a:endParaRPr b="0" i="0" sz="232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000" y="1694825"/>
            <a:ext cx="4128000" cy="232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8"/>
          <p:cNvSpPr txBox="1"/>
          <p:nvPr/>
        </p:nvSpPr>
        <p:spPr>
          <a:xfrm>
            <a:off x="1685700" y="4140025"/>
            <a:ext cx="577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https://thinkinfi.com/continuous-bag-of-words-cbow-multi-word-model-how-it-works/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311700" y="1017725"/>
            <a:ext cx="700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600"/>
              <a:buFont typeface="Arial"/>
              <a:buChar char="●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Prevê a representação de uma palavra, dado o seu contexto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/>
        </p:nvSpPr>
        <p:spPr>
          <a:xfrm>
            <a:off x="311700" y="1864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b="0" i="0" lang="pt-BR" sz="232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Word2Vec: CBOW</a:t>
            </a:r>
            <a:endParaRPr b="0" i="0" sz="232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p29"/>
          <p:cNvGrpSpPr/>
          <p:nvPr/>
        </p:nvGrpSpPr>
        <p:grpSpPr>
          <a:xfrm>
            <a:off x="3019825" y="337700"/>
            <a:ext cx="4776675" cy="4421401"/>
            <a:chOff x="2486425" y="718700"/>
            <a:chExt cx="4776675" cy="4421401"/>
          </a:xfrm>
        </p:grpSpPr>
        <p:pic>
          <p:nvPicPr>
            <p:cNvPr id="264" name="Google Shape;264;p29"/>
            <p:cNvPicPr preferRelativeResize="0"/>
            <p:nvPr/>
          </p:nvPicPr>
          <p:blipFill rotWithShape="1">
            <a:blip r:embed="rId3">
              <a:alphaModFix/>
            </a:blip>
            <a:srcRect b="0" l="0" r="50000" t="0"/>
            <a:stretch/>
          </p:blipFill>
          <p:spPr>
            <a:xfrm>
              <a:off x="4277069" y="1017725"/>
              <a:ext cx="2726425" cy="412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29"/>
            <p:cNvSpPr txBox="1"/>
            <p:nvPr/>
          </p:nvSpPr>
          <p:spPr>
            <a:xfrm>
              <a:off x="2486425" y="1178775"/>
              <a:ext cx="1718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word context</a:t>
              </a:r>
              <a:endParaRPr b="0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(one-hot encoding)</a:t>
              </a:r>
              <a:endParaRPr b="0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6" name="Google Shape;266;p29"/>
            <p:cNvCxnSpPr>
              <a:stCxn id="265" idx="2"/>
            </p:cNvCxnSpPr>
            <p:nvPr/>
          </p:nvCxnSpPr>
          <p:spPr>
            <a:xfrm>
              <a:off x="3345775" y="1794375"/>
              <a:ext cx="958200" cy="225300"/>
            </a:xfrm>
            <a:prstGeom prst="straightConnector1">
              <a:avLst/>
            </a:prstGeom>
            <a:noFill/>
            <a:ln cap="flat" cmpd="sng" w="9525">
              <a:solidFill>
                <a:srgbClr val="4A86E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7" name="Google Shape;267;p29"/>
            <p:cNvCxnSpPr>
              <a:stCxn id="265" idx="2"/>
            </p:cNvCxnSpPr>
            <p:nvPr/>
          </p:nvCxnSpPr>
          <p:spPr>
            <a:xfrm>
              <a:off x="3345775" y="1794375"/>
              <a:ext cx="924300" cy="1242600"/>
            </a:xfrm>
            <a:prstGeom prst="straightConnector1">
              <a:avLst/>
            </a:prstGeom>
            <a:noFill/>
            <a:ln cap="flat" cmpd="sng" w="9525">
              <a:solidFill>
                <a:srgbClr val="4A86E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8" name="Google Shape;268;p29"/>
            <p:cNvCxnSpPr>
              <a:stCxn id="265" idx="2"/>
            </p:cNvCxnSpPr>
            <p:nvPr/>
          </p:nvCxnSpPr>
          <p:spPr>
            <a:xfrm>
              <a:off x="3345775" y="1794375"/>
              <a:ext cx="1044900" cy="2277600"/>
            </a:xfrm>
            <a:prstGeom prst="straightConnector1">
              <a:avLst/>
            </a:prstGeom>
            <a:noFill/>
            <a:ln cap="flat" cmpd="sng" w="9525">
              <a:solidFill>
                <a:srgbClr val="4A86E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69" name="Google Shape;269;p29"/>
            <p:cNvSpPr/>
            <p:nvPr/>
          </p:nvSpPr>
          <p:spPr>
            <a:xfrm>
              <a:off x="5268375" y="2353374"/>
              <a:ext cx="543900" cy="1298400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9"/>
            <p:cNvSpPr txBox="1"/>
            <p:nvPr/>
          </p:nvSpPr>
          <p:spPr>
            <a:xfrm>
              <a:off x="5544400" y="718700"/>
              <a:ext cx="17187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distribuição de probabilidade das palavras no corpus </a:t>
              </a:r>
              <a:endParaRPr b="0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1" name="Google Shape;271;p29"/>
            <p:cNvCxnSpPr>
              <a:stCxn id="270" idx="2"/>
            </p:cNvCxnSpPr>
            <p:nvPr/>
          </p:nvCxnSpPr>
          <p:spPr>
            <a:xfrm>
              <a:off x="6403750" y="1550000"/>
              <a:ext cx="51600" cy="830400"/>
            </a:xfrm>
            <a:prstGeom prst="straightConnector1">
              <a:avLst/>
            </a:prstGeom>
            <a:noFill/>
            <a:ln cap="flat" cmpd="sng" w="9525">
              <a:solidFill>
                <a:srgbClr val="4A86E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72" name="Google Shape;272;p29"/>
            <p:cNvSpPr txBox="1"/>
            <p:nvPr/>
          </p:nvSpPr>
          <p:spPr>
            <a:xfrm>
              <a:off x="5268375" y="4105725"/>
              <a:ext cx="1458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representação </a:t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da palavra</a:t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" name="Google Shape;273;p29"/>
            <p:cNvCxnSpPr>
              <a:stCxn id="269" idx="4"/>
              <a:endCxn id="272" idx="0"/>
            </p:cNvCxnSpPr>
            <p:nvPr/>
          </p:nvCxnSpPr>
          <p:spPr>
            <a:xfrm>
              <a:off x="5540325" y="3651774"/>
              <a:ext cx="457500" cy="4539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4" name="Google Shape;274;p29"/>
          <p:cNvSpPr txBox="1"/>
          <p:nvPr/>
        </p:nvSpPr>
        <p:spPr>
          <a:xfrm>
            <a:off x="2486425" y="4880100"/>
            <a:ext cx="256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https://arxiv.org/pdf/1411.2738v3.pdf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625" y="2088850"/>
            <a:ext cx="3090673" cy="174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/>
          <p:nvPr/>
        </p:nvSpPr>
        <p:spPr>
          <a:xfrm>
            <a:off x="392250" y="4264500"/>
            <a:ext cx="341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400"/>
              <a:buFont typeface="Arial"/>
              <a:buChar char="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Dimensão das entradas e saída: tamanho do vocabulário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30"/>
          <p:cNvCxnSpPr>
            <a:stCxn id="284" idx="0"/>
          </p:cNvCxnSpPr>
          <p:nvPr/>
        </p:nvCxnSpPr>
        <p:spPr>
          <a:xfrm flipH="1" rot="10800000">
            <a:off x="864450" y="3078575"/>
            <a:ext cx="90600" cy="1572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" name="Google Shape;285;p30"/>
          <p:cNvCxnSpPr>
            <a:stCxn id="284" idx="0"/>
          </p:cNvCxnSpPr>
          <p:nvPr/>
        </p:nvCxnSpPr>
        <p:spPr>
          <a:xfrm flipH="1" rot="10800000">
            <a:off x="864450" y="3605675"/>
            <a:ext cx="489300" cy="1045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30"/>
          <p:cNvCxnSpPr>
            <a:stCxn id="284" idx="0"/>
          </p:cNvCxnSpPr>
          <p:nvPr/>
        </p:nvCxnSpPr>
        <p:spPr>
          <a:xfrm flipH="1" rot="10800000">
            <a:off x="864450" y="4360775"/>
            <a:ext cx="774300" cy="290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30"/>
          <p:cNvCxnSpPr>
            <a:stCxn id="284" idx="0"/>
          </p:cNvCxnSpPr>
          <p:nvPr/>
        </p:nvCxnSpPr>
        <p:spPr>
          <a:xfrm rot="10800000">
            <a:off x="484650" y="2565575"/>
            <a:ext cx="379800" cy="2085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88" name="Google Shape;28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710800"/>
            <a:ext cx="5062901" cy="301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 txBox="1"/>
          <p:nvPr/>
        </p:nvSpPr>
        <p:spPr>
          <a:xfrm>
            <a:off x="311700" y="1017725"/>
            <a:ext cx="4260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600"/>
              <a:buFont typeface="Arial"/>
              <a:buChar char="●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Dada uma palavra como entrada, prevê o seu contexto.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0"/>
          <p:cNvSpPr txBox="1"/>
          <p:nvPr/>
        </p:nvSpPr>
        <p:spPr>
          <a:xfrm>
            <a:off x="311700" y="1864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Word2Vec: Skip-gram</a:t>
            </a:r>
            <a:endParaRPr b="0" i="0" sz="23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/>
        </p:nvSpPr>
        <p:spPr>
          <a:xfrm>
            <a:off x="5989049" y="4819284"/>
            <a:ext cx="256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https://arxiv.org/pdf/1411.2738v3.pdf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" name="Google Shape;292;p30"/>
          <p:cNvGrpSpPr/>
          <p:nvPr/>
        </p:nvGrpSpPr>
        <p:grpSpPr>
          <a:xfrm>
            <a:off x="5029195" y="589700"/>
            <a:ext cx="4147655" cy="4294676"/>
            <a:chOff x="5029195" y="818300"/>
            <a:chExt cx="4147655" cy="4294676"/>
          </a:xfrm>
        </p:grpSpPr>
        <p:pic>
          <p:nvPicPr>
            <p:cNvPr id="293" name="Google Shape;293;p30"/>
            <p:cNvPicPr preferRelativeResize="0"/>
            <p:nvPr/>
          </p:nvPicPr>
          <p:blipFill rotWithShape="1">
            <a:blip r:embed="rId4">
              <a:alphaModFix/>
            </a:blip>
            <a:srcRect b="0" l="50000" r="0" t="0"/>
            <a:stretch/>
          </p:blipFill>
          <p:spPr>
            <a:xfrm>
              <a:off x="5029195" y="990600"/>
              <a:ext cx="2726450" cy="412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30"/>
            <p:cNvSpPr/>
            <p:nvPr/>
          </p:nvSpPr>
          <p:spPr>
            <a:xfrm>
              <a:off x="6173625" y="2368124"/>
              <a:ext cx="543900" cy="1298400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 txBox="1"/>
            <p:nvPr/>
          </p:nvSpPr>
          <p:spPr>
            <a:xfrm>
              <a:off x="7717950" y="818300"/>
              <a:ext cx="1458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N distribuições de probabilidade das palavras no corpus</a:t>
              </a:r>
              <a:endParaRPr b="0" i="0" sz="11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6" name="Google Shape;296;p30"/>
            <p:cNvCxnSpPr>
              <a:stCxn id="295" idx="2"/>
            </p:cNvCxnSpPr>
            <p:nvPr/>
          </p:nvCxnSpPr>
          <p:spPr>
            <a:xfrm flipH="1">
              <a:off x="7779600" y="1511000"/>
              <a:ext cx="667800" cy="199800"/>
            </a:xfrm>
            <a:prstGeom prst="straightConnector1">
              <a:avLst/>
            </a:prstGeom>
            <a:noFill/>
            <a:ln cap="flat" cmpd="sng" w="9525">
              <a:solidFill>
                <a:srgbClr val="4A86E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7" name="Google Shape;297;p30"/>
            <p:cNvCxnSpPr>
              <a:stCxn id="295" idx="2"/>
            </p:cNvCxnSpPr>
            <p:nvPr/>
          </p:nvCxnSpPr>
          <p:spPr>
            <a:xfrm flipH="1">
              <a:off x="7751100" y="1511000"/>
              <a:ext cx="696300" cy="1225500"/>
            </a:xfrm>
            <a:prstGeom prst="straightConnector1">
              <a:avLst/>
            </a:prstGeom>
            <a:noFill/>
            <a:ln cap="flat" cmpd="sng" w="9525">
              <a:solidFill>
                <a:srgbClr val="4A86E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8" name="Google Shape;298;p30"/>
            <p:cNvCxnSpPr>
              <a:stCxn id="295" idx="2"/>
            </p:cNvCxnSpPr>
            <p:nvPr/>
          </p:nvCxnSpPr>
          <p:spPr>
            <a:xfrm flipH="1">
              <a:off x="7608600" y="1511000"/>
              <a:ext cx="838800" cy="2636100"/>
            </a:xfrm>
            <a:prstGeom prst="straightConnector1">
              <a:avLst/>
            </a:prstGeom>
            <a:noFill/>
            <a:ln cap="flat" cmpd="sng" w="9525">
              <a:solidFill>
                <a:srgbClr val="4A86E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9" name="Google Shape;299;p30"/>
            <p:cNvSpPr txBox="1"/>
            <p:nvPr/>
          </p:nvSpPr>
          <p:spPr>
            <a:xfrm>
              <a:off x="5240288" y="1244763"/>
              <a:ext cx="1718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word</a:t>
              </a:r>
              <a:endParaRPr b="0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4A86E8"/>
                  </a:solidFill>
                  <a:latin typeface="Arial"/>
                  <a:ea typeface="Arial"/>
                  <a:cs typeface="Arial"/>
                  <a:sym typeface="Arial"/>
                </a:rPr>
                <a:t>(one-hot encoding)</a:t>
              </a:r>
              <a:endParaRPr b="0" i="0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0" name="Google Shape;300;p30"/>
            <p:cNvCxnSpPr>
              <a:stCxn id="299" idx="2"/>
            </p:cNvCxnSpPr>
            <p:nvPr/>
          </p:nvCxnSpPr>
          <p:spPr>
            <a:xfrm flipH="1">
              <a:off x="5729138" y="1860363"/>
              <a:ext cx="370500" cy="377400"/>
            </a:xfrm>
            <a:prstGeom prst="straightConnector1">
              <a:avLst/>
            </a:prstGeom>
            <a:noFill/>
            <a:ln cap="flat" cmpd="sng" w="9525">
              <a:solidFill>
                <a:srgbClr val="4A86E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1" name="Google Shape;301;p30"/>
            <p:cNvSpPr txBox="1"/>
            <p:nvPr/>
          </p:nvSpPr>
          <p:spPr>
            <a:xfrm>
              <a:off x="5662975" y="4174275"/>
              <a:ext cx="1458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representação </a:t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pt-BR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da palavra</a:t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2" name="Google Shape;302;p30"/>
            <p:cNvCxnSpPr>
              <a:stCxn id="294" idx="4"/>
              <a:endCxn id="301" idx="0"/>
            </p:cNvCxnSpPr>
            <p:nvPr/>
          </p:nvCxnSpPr>
          <p:spPr>
            <a:xfrm flipH="1">
              <a:off x="6392475" y="3666524"/>
              <a:ext cx="53100" cy="5079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303" name="Google Shape;303;p30"/>
          <p:cNvCxnSpPr/>
          <p:nvPr/>
        </p:nvCxnSpPr>
        <p:spPr>
          <a:xfrm>
            <a:off x="5015550" y="1254750"/>
            <a:ext cx="9300" cy="381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30"/>
          <p:cNvSpPr txBox="1"/>
          <p:nvPr/>
        </p:nvSpPr>
        <p:spPr>
          <a:xfrm>
            <a:off x="311700" y="4651475"/>
            <a:ext cx="11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Input word</a:t>
            </a:r>
            <a:endParaRPr b="1" i="0" sz="14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 txBox="1"/>
          <p:nvPr/>
        </p:nvSpPr>
        <p:spPr>
          <a:xfrm>
            <a:off x="311700" y="1864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Word2Vec: Skip-gram with Negative Sampling</a:t>
            </a:r>
            <a:endParaRPr b="0" i="0" sz="23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2999" y="881000"/>
            <a:ext cx="3250900" cy="41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 txBox="1"/>
          <p:nvPr/>
        </p:nvSpPr>
        <p:spPr>
          <a:xfrm>
            <a:off x="311700" y="1017725"/>
            <a:ext cx="48243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Modelos anteriores são muito custosos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Prevê palavras vizinhas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Exemplos negativos: palavras que não são vizinhas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Entradas: palavra e seu contexto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Saída: probabilidade de matching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/>
        </p:nvSpPr>
        <p:spPr>
          <a:xfrm>
            <a:off x="311700" y="1864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Word2Vec: Skip-gram with Negative Sampling</a:t>
            </a:r>
            <a:endParaRPr b="0" i="0" sz="23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2999" y="881000"/>
            <a:ext cx="3250900" cy="41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100" y="1105200"/>
            <a:ext cx="3424750" cy="68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800" y="1874725"/>
            <a:ext cx="2419350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2"/>
          <p:cNvSpPr txBox="1"/>
          <p:nvPr/>
        </p:nvSpPr>
        <p:spPr>
          <a:xfrm>
            <a:off x="587075" y="3819575"/>
            <a:ext cx="354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https://jalammar.github.io/illustrated-word2vec/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Exemplos de Embeddings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463" y="1520800"/>
            <a:ext cx="6299075" cy="222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8038" y="3748525"/>
            <a:ext cx="2447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Exemplos de Embeddings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650" y="1267700"/>
            <a:ext cx="7312425" cy="30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 maioria das redes para texto, word embeddings é a entrada padrão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Qual é o melhor é difícil dizer: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vetores pré-treinados disponíveis (você também pode criar o seu)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800"/>
              <a:buFont typeface="Arial"/>
              <a:buChar char="●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Seleção de corpus e ajuste dos parâmetros para a uma dada tarefa: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○"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Por exemplo. Para análise de sentimento, as palavras "bom" e "ruim" devem estar distantes no espaço vetorial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FF3E03"/>
                </a:solidFill>
                <a:latin typeface="Arial"/>
                <a:ea typeface="Arial"/>
                <a:cs typeface="Arial"/>
                <a:sym typeface="Arial"/>
              </a:rPr>
              <a:t>Modelos amplamente utilizados</a:t>
            </a:r>
            <a:endParaRPr b="0" i="0" sz="2800" u="none" cap="none" strike="noStrike">
              <a:solidFill>
                <a:srgbClr val="FF3E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6"/>
          <p:cNvSpPr txBox="1"/>
          <p:nvPr/>
        </p:nvSpPr>
        <p:spPr>
          <a:xfrm>
            <a:off x="311700" y="1152475"/>
            <a:ext cx="828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Word2Vec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https://code.google.com/p/word2vec/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Glove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http://nlp.stanford.edu/projects/glove/</a:t>
            </a: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FastText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https://fasttext.cc/</a:t>
            </a: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Doc2Vec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https://radimrehurek.com/gensim/models/doc2vec.html</a:t>
            </a:r>
            <a:r>
              <a:rPr b="0" i="0" lang="pt-BR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 txBox="1"/>
          <p:nvPr/>
        </p:nvSpPr>
        <p:spPr>
          <a:xfrm>
            <a:off x="365000" y="719725"/>
            <a:ext cx="719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7"/>
          <p:cNvSpPr txBox="1"/>
          <p:nvPr>
            <p:ph type="title"/>
          </p:nvPr>
        </p:nvSpPr>
        <p:spPr>
          <a:xfrm>
            <a:off x="2240550" y="2059050"/>
            <a:ext cx="46629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6666"/>
              <a:buNone/>
            </a:pPr>
            <a:r>
              <a:rPr lang="pt-BR" sz="7200">
                <a:solidFill>
                  <a:srgbClr val="FF3E03"/>
                </a:solidFill>
              </a:rPr>
              <a:t>Aula Prática</a:t>
            </a:r>
            <a:endParaRPr sz="7200">
              <a:solidFill>
                <a:srgbClr val="FF3E03"/>
              </a:solidFill>
            </a:endParaRPr>
          </a:p>
        </p:txBody>
      </p:sp>
      <p:sp>
        <p:nvSpPr>
          <p:cNvPr id="364" name="Google Shape;364;p37"/>
          <p:cNvSpPr txBox="1"/>
          <p:nvPr>
            <p:ph idx="1" type="body"/>
          </p:nvPr>
        </p:nvSpPr>
        <p:spPr>
          <a:xfrm>
            <a:off x="3857400" y="3152225"/>
            <a:ext cx="14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Google Colab</a:t>
            </a:r>
            <a:endParaRPr/>
          </a:p>
        </p:txBody>
      </p:sp>
      <p:pic>
        <p:nvPicPr>
          <p:cNvPr id="365" name="Google Shape;36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/>
          <p:nvPr/>
        </p:nvSpPr>
        <p:spPr>
          <a:xfrm rot="10800000">
            <a:off x="7347585" y="3347093"/>
            <a:ext cx="1796406" cy="1796406"/>
          </a:xfrm>
          <a:custGeom>
            <a:rect b="b" l="l" r="r" t="t"/>
            <a:pathLst>
              <a:path extrusionOk="0" h="208763" w="208763">
                <a:moveTo>
                  <a:pt x="0" y="0"/>
                </a:moveTo>
                <a:lnTo>
                  <a:pt x="0" y="208763"/>
                </a:lnTo>
                <a:cubicBezTo>
                  <a:pt x="115295" y="208763"/>
                  <a:pt x="208763" y="115295"/>
                  <a:pt x="208763" y="0"/>
                </a:cubicBez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ngleLinesVTI">
  <a:themeElements>
    <a:clrScheme name="AnalogousFromRegularSeedLeftStep">
      <a:dk1>
        <a:srgbClr val="000000"/>
      </a:dk1>
      <a:lt1>
        <a:srgbClr val="FFFFFF"/>
      </a:lt1>
      <a:dk2>
        <a:srgbClr val="1B2B30"/>
      </a:dk2>
      <a:lt2>
        <a:srgbClr val="F1F3F0"/>
      </a:lt2>
      <a:accent1>
        <a:srgbClr val="D129E7"/>
      </a:accent1>
      <a:accent2>
        <a:srgbClr val="7620D6"/>
      </a:accent2>
      <a:accent3>
        <a:srgbClr val="3329E7"/>
      </a:accent3>
      <a:accent4>
        <a:srgbClr val="175CD5"/>
      </a:accent4>
      <a:accent5>
        <a:srgbClr val="27BAE3"/>
      </a:accent5>
      <a:accent6>
        <a:srgbClr val="15C2A0"/>
      </a:accent6>
      <a:hlink>
        <a:srgbClr val="409D3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