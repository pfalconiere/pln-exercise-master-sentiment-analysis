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Helvetica Neue"/>
      <p:regular r:id="rId40"/>
      <p:bold r:id="rId41"/>
      <p:italic r:id="rId42"/>
      <p:boldItalic r:id="rId43"/>
    </p:embeddedFont>
    <p:embeddedFont>
      <p:font typeface="Oi"/>
      <p:regular r:id="rId44"/>
    </p:embeddedFont>
    <p:embeddedFont>
      <p:font typeface="DM Sans"/>
      <p:regular r:id="rId45"/>
      <p:bold r:id="rId46"/>
      <p:italic r:id="rId47"/>
      <p:boldItalic r:id="rId48"/>
    </p:embeddedFont>
    <p:embeddedFont>
      <p:font typeface="Open Sans Ligh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iGfBisv7TK5t1FPI8nNq396L9Y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A85CA3-641F-44B3-AA10-5CE022B20F5F}">
  <a:tblStyle styleId="{93A85CA3-641F-44B3-AA10-5CE022B20F5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regular.fntdata"/><Relationship Id="rId42" Type="http://schemas.openxmlformats.org/officeDocument/2006/relationships/font" Target="fonts/HelveticaNeue-italic.fntdata"/><Relationship Id="rId41" Type="http://schemas.openxmlformats.org/officeDocument/2006/relationships/font" Target="fonts/HelveticaNeue-bold.fntdata"/><Relationship Id="rId44" Type="http://schemas.openxmlformats.org/officeDocument/2006/relationships/font" Target="fonts/Oi-regular.fntdata"/><Relationship Id="rId43" Type="http://schemas.openxmlformats.org/officeDocument/2006/relationships/font" Target="fonts/HelveticaNeue-boldItalic.fntdata"/><Relationship Id="rId46" Type="http://schemas.openxmlformats.org/officeDocument/2006/relationships/font" Target="fonts/DMSans-bold.fntdata"/><Relationship Id="rId45" Type="http://schemas.openxmlformats.org/officeDocument/2006/relationships/font" Target="fonts/DM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DMSans-boldItalic.fntdata"/><Relationship Id="rId47" Type="http://schemas.openxmlformats.org/officeDocument/2006/relationships/font" Target="fonts/DMSans-italic.fntdata"/><Relationship Id="rId49" Type="http://schemas.openxmlformats.org/officeDocument/2006/relationships/font" Target="fonts/OpenSans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Light-italic.fntdata"/><Relationship Id="rId50" Type="http://schemas.openxmlformats.org/officeDocument/2006/relationships/font" Target="fonts/OpenSansLight-bold.fntdata"/><Relationship Id="rId53" Type="http://customschemas.google.com/relationships/presentationmetadata" Target="metadata"/><Relationship Id="rId52" Type="http://schemas.openxmlformats.org/officeDocument/2006/relationships/font" Target="fonts/OpenSans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1e19aa9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g3c1e19aa9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 que é Extração de Informação? Detectar informações que são importantes dentro de um texto não estruturado.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Dado não estruturado. Texto Corrido. Difícil de ser processado por máquina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Dado estruturado. Texto organizado por segmentos. Ex: formato de grafo. Melhor o entendimento/processamento de máquina.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Pode ajudar em várias tarefas: Consulta, consumo, exploração de relações. Diferenciar pessoas de locais, de organizações…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 texto não estruturado tem uma natureza sequencial.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i.i.d : não é independente e identicamente distribuída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Noun Phrase = Frase substantiva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Quem é o agente da ação?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Quem é o agente paciente?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Qual a Origem?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Qual o destino?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Qual é o instrumento da ação?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Conjunto de sequências genéticas codificantes e não-codificantes do genoma humano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Exons: sequências codificantes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Introns: sequências não codificantes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São importantes para identificar a estrutura de uma sentença e o seu significado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Part-of-Speech -&gt; Classes gramaticais das palavras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Named Entity Recognition -&gt; Identificar quais são as palavras que representam entidades do mundo real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Desambiguação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Saw: “viu” (verbo)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Saw: “Serrote”  (substantivo comum)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Classe mais frequente -&gt; alta acurácia -&gt; o modelo irá predizê-la pois é mais frequente (maior a chance de acerto)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WSJ (Wall Street Journal)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17 principais Classes gramaticais em inglês -&gt; Conjunto de Dependencias Universais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Closed: muito dificilmente aparecem preposições novas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Open: são criados novos constantemente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45 classes detalhadas -&gt; amplia o conjunto anterior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JFK -&gt; John F. Kennedy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Airport -&gt; Nova York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 Modelo deve atribuir um rótulo para cada palavra da sequência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É um modelo clássico que introduz muitos dos conceitos chave para a modelagem sequencial que são usados por vários modelos atuais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Exemplo: dado que você só vê como as pessoas estão vestidas, tente prever como tá o clima no dia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Variável escondida: o clima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Variável observada: o tipo de roupa vestida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 caso de PLN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Dado um conjunto de palavras -&gt; inferir as classes gramaticais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Variável escondida: os labels a serem atribuídos (Postag, NER)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Variavel observada: palavras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Para prever o clima de amanhã você vai se basear apenas no clima de hoje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Pi: distribuição de probabilidade inicial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soma dos pesos das transições saindo de um determinado estado deve ser igual a 1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Observações: Palavras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Estados: classes gramaticais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Matriz A (matriz de transição): as probabilidades de uma classe vir após outra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Matriz B: a probabilidade de uma classe gramatical ser atribuída a uma palavra observada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Os nós são os estados escondidos que estamos tentando prever.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 arestas são aquelas porcentagens de transição entre os estados escondidos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Os quadros são as matrizes de pesos contendo as probabilidades de a classe pertencer a uma determinada palavra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Com esse modelo probabilístico será possível fazer as predições para uma determinada sentença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Dado o modelo probabilístico é uma sequência de palavras o objetivo é encontrar a sequência de tags (classes gramaticais) mais prováveis para aquele texto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Maximizar a probabilidade -&gt; gerar a melhor sequência de tags (rótulos) t1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É o algoritmo que vai fazer a decodificação do HMM para rotulagem de uma sentença dada como entrada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Matriz A e B -&gt; baseada no WSJ (Wall Street Journal) corpus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JJ: Adjetivo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VB: Verbo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NNP: Substantivo Proprio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MD: Modal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DT: Determinante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RB: Adverbio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NN: Substantivo comum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Programação Dinâmica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 Algoritmo começa pela distribuição de probabilidade inicial, essa rotulagem guiará a predição das próximas tags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Após isso será desenvolvido o cálculo de forma a maximizar a probabilidade final da sentença inteira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1 - A probabilidade um substantivo próprio (NNP) iniciar a sentença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2 - A probabilidade de um substantivo próprio (NNP) ser Janet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3 - Multiplica as duas probabilidade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Faz isso para todas as tags. Seleciona a maior probabilidade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BACKTRACE = Registra os estados anteriores para quando chegar ao final da sequência, saber qual o caminho correto percorrido.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Sequencia final: NNP MD VB DT NN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Células em Branco = São 0.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“the” e “bill = a completar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Sentença de entrada: janet will back the bill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Já existem alguns padrões para detecção de relações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PER = Pessoa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GPE = Entidade Geo-Política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ORG = Organização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Heart Patterns -&gt; Hipônimos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NP: Noun Phrase -&gt; Frase Substantiva  + “such as”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NP0: red algae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NP1: Gelidium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NP1 é alga vermelha é hipônimo de Gelidium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Gelidium é um hiperônimo de Alga Vermelha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Templos (hiponomio) = civic building (hipernomio)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Herrick, GOldsmith, Shakespeare = Autores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Canada, England = Common-law countries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Dado que a sentença possui um Substantivo próprio e um objeto relativo a localização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 classificador obterá a probabilidade de a sentença conter uma relação de nascimento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Entre essa pessoa e a cidade mencionados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Relação = local de nascimento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" name="Google Shape;22;p4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" name="Google Shape;2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" name="Google Shape;3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1e19aa944_0_110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2400"/>
              <a:buNone/>
              <a:defRPr sz="2400" u="none" cap="none" strike="noStrike">
                <a:solidFill>
                  <a:srgbClr val="FF3E03"/>
                </a:solidFill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g3c1e19aa944_0_110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6600"/>
              </a:buClr>
              <a:buSzPts val="1400"/>
              <a:buChar char="•"/>
              <a:defRPr i="0" sz="1800" u="none" cap="none" strike="noStrike">
                <a:solidFill>
                  <a:schemeClr val="dk2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i="0" sz="1500" u="none" cap="none" strike="noStrike">
                <a:solidFill>
                  <a:schemeClr val="dk2"/>
                </a:solidFill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i="0" sz="1400" u="none" cap="none" strike="noStrike">
                <a:solidFill>
                  <a:schemeClr val="dk2"/>
                </a:solidFill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i="0" sz="1200" u="none" cap="none" strike="noStrike">
                <a:solidFill>
                  <a:schemeClr val="dk2"/>
                </a:solidFill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i="0" sz="1200" u="none" cap="none" strike="noStrike">
                <a:solidFill>
                  <a:schemeClr val="dk2"/>
                </a:solidFill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sz="1400" u="none" cap="none" strike="noStrike">
                <a:solidFill>
                  <a:schemeClr val="dk1"/>
                </a:solidFill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sz="1400" u="none" cap="none" strike="noStrike">
                <a:solidFill>
                  <a:schemeClr val="dk1"/>
                </a:solidFill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sz="1400" u="none" cap="none" strike="noStrike">
                <a:solidFill>
                  <a:schemeClr val="dk1"/>
                </a:solidFill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sz="14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g3c1e19aa944_0_110"/>
          <p:cNvSpPr txBox="1"/>
          <p:nvPr>
            <p:ph idx="10" type="dt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4" name="Google Shape;54;g3c1e19aa944_0_110"/>
          <p:cNvSpPr txBox="1"/>
          <p:nvPr>
            <p:ph idx="11" type="ftr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5" name="Google Shape;55;g3c1e19aa944_0_110"/>
          <p:cNvSpPr txBox="1"/>
          <p:nvPr>
            <p:ph idx="12" type="sldNum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g3c1e19aa944_0_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1e19aa944_0_0"/>
          <p:cNvSpPr/>
          <p:nvPr/>
        </p:nvSpPr>
        <p:spPr>
          <a:xfrm>
            <a:off x="-45425" y="-27250"/>
            <a:ext cx="9189300" cy="5170800"/>
          </a:xfrm>
          <a:prstGeom prst="rect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c1e19aa944_0_0"/>
          <p:cNvSpPr txBox="1"/>
          <p:nvPr/>
        </p:nvSpPr>
        <p:spPr>
          <a:xfrm>
            <a:off x="466328" y="1800300"/>
            <a:ext cx="63486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" sz="3400">
                <a:solidFill>
                  <a:srgbClr val="F7F6E2"/>
                </a:solidFill>
                <a:latin typeface="DM Sans"/>
                <a:ea typeface="DM Sans"/>
                <a:cs typeface="DM Sans"/>
                <a:sym typeface="DM Sans"/>
              </a:rPr>
              <a:t>Extração de Informação</a:t>
            </a:r>
            <a:endParaRPr b="1" i="0" sz="3400" u="none" cap="none" strike="noStrike">
              <a:solidFill>
                <a:srgbClr val="F7F6E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3" name="Google Shape;63;g3c1e19aa944_0_0"/>
          <p:cNvPicPr preferRelativeResize="0"/>
          <p:nvPr/>
        </p:nvPicPr>
        <p:blipFill rotWithShape="1">
          <a:blip r:embed="rId3">
            <a:alphaModFix/>
          </a:blip>
          <a:srcRect b="28921" l="0" r="0" t="0"/>
          <a:stretch/>
        </p:blipFill>
        <p:spPr>
          <a:xfrm>
            <a:off x="466331" y="449997"/>
            <a:ext cx="1183898" cy="7516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c1e19aa944_0_0"/>
          <p:cNvSpPr/>
          <p:nvPr/>
        </p:nvSpPr>
        <p:spPr>
          <a:xfrm rot="-5400000">
            <a:off x="7507635" y="216486"/>
            <a:ext cx="905796" cy="18117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g3c1e19aa944_0_0"/>
          <p:cNvSpPr/>
          <p:nvPr/>
        </p:nvSpPr>
        <p:spPr>
          <a:xfrm>
            <a:off x="7054565" y="1885087"/>
            <a:ext cx="1812000" cy="1812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g3c1e19aa944_0_0"/>
          <p:cNvSpPr/>
          <p:nvPr/>
        </p:nvSpPr>
        <p:spPr>
          <a:xfrm rot="5400000">
            <a:off x="5403061" y="87049"/>
            <a:ext cx="905796" cy="18117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/>
          <p:nvPr/>
        </p:nvSpPr>
        <p:spPr>
          <a:xfrm>
            <a:off x="311600" y="3110375"/>
            <a:ext cx="8520600" cy="199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Objetivo</a:t>
            </a:r>
            <a:endParaRPr/>
          </a:p>
        </p:txBody>
      </p:sp>
      <p:sp>
        <p:nvSpPr>
          <p:cNvPr id="73" name="Google Shape;73;p2"/>
          <p:cNvSpPr txBox="1"/>
          <p:nvPr>
            <p:ph idx="1" type="body"/>
          </p:nvPr>
        </p:nvSpPr>
        <p:spPr>
          <a:xfrm>
            <a:off x="311700" y="1152475"/>
            <a:ext cx="85206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Extrair estrutura a partir de dados não estruturados</a:t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2308200" y="1848500"/>
            <a:ext cx="4527600" cy="43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Barack Obama was born in Hawaii…</a:t>
            </a:r>
            <a:endParaRPr b="0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2308175" y="1509800"/>
            <a:ext cx="160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Unstructured Text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" name="Google Shape;76;p2"/>
          <p:cNvGrpSpPr/>
          <p:nvPr/>
        </p:nvGrpSpPr>
        <p:grpSpPr>
          <a:xfrm>
            <a:off x="436400" y="3285700"/>
            <a:ext cx="4415750" cy="1643150"/>
            <a:chOff x="2379500" y="3330050"/>
            <a:chExt cx="4415750" cy="1643150"/>
          </a:xfrm>
        </p:grpSpPr>
        <p:sp>
          <p:nvSpPr>
            <p:cNvPr id="77" name="Google Shape;77;p2"/>
            <p:cNvSpPr/>
            <p:nvPr/>
          </p:nvSpPr>
          <p:spPr>
            <a:xfrm>
              <a:off x="2379500" y="3813250"/>
              <a:ext cx="1730700" cy="6258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Barack Obama</a:t>
              </a:r>
              <a:endParaRPr b="1" i="0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064550" y="3330050"/>
              <a:ext cx="1730700" cy="6258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Born</a:t>
              </a:r>
              <a:endParaRPr b="1" i="0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064550" y="4347400"/>
              <a:ext cx="1730700" cy="6258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Hawaii</a:t>
              </a:r>
              <a:endParaRPr b="1" i="0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80" name="Google Shape;80;p2"/>
            <p:cNvCxnSpPr>
              <a:stCxn id="77" idx="7"/>
              <a:endCxn id="78" idx="2"/>
            </p:cNvCxnSpPr>
            <p:nvPr/>
          </p:nvCxnSpPr>
          <p:spPr>
            <a:xfrm flipH="1" rot="10800000">
              <a:off x="3856745" y="3642996"/>
              <a:ext cx="1207800" cy="261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" name="Google Shape;81;p2"/>
            <p:cNvCxnSpPr>
              <a:stCxn id="77" idx="5"/>
              <a:endCxn id="79" idx="2"/>
            </p:cNvCxnSpPr>
            <p:nvPr/>
          </p:nvCxnSpPr>
          <p:spPr>
            <a:xfrm>
              <a:off x="3856745" y="4347404"/>
              <a:ext cx="1207800" cy="312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2" name="Google Shape;82;p2"/>
            <p:cNvSpPr txBox="1"/>
            <p:nvPr/>
          </p:nvSpPr>
          <p:spPr>
            <a:xfrm rot="-711985">
              <a:off x="4181902" y="3491463"/>
              <a:ext cx="557310" cy="3693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was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 txBox="1"/>
            <p:nvPr/>
          </p:nvSpPr>
          <p:spPr>
            <a:xfrm rot="751392">
              <a:off x="4038829" y="4250678"/>
              <a:ext cx="997533" cy="3693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was born in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2"/>
          <p:cNvSpPr txBox="1"/>
          <p:nvPr/>
        </p:nvSpPr>
        <p:spPr>
          <a:xfrm>
            <a:off x="2308175" y="2771675"/>
            <a:ext cx="160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Structured Text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2"/>
          <p:cNvCxnSpPr>
            <a:stCxn id="74" idx="2"/>
            <a:endCxn id="71" idx="0"/>
          </p:cNvCxnSpPr>
          <p:nvPr/>
        </p:nvCxnSpPr>
        <p:spPr>
          <a:xfrm>
            <a:off x="4572000" y="2279600"/>
            <a:ext cx="0" cy="830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" name="Google Shape;86;p2"/>
          <p:cNvSpPr txBox="1"/>
          <p:nvPr/>
        </p:nvSpPr>
        <p:spPr>
          <a:xfrm>
            <a:off x="4572000" y="2448688"/>
            <a:ext cx="99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Extraction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" name="Google Shape;87;p2"/>
          <p:cNvGraphicFramePr/>
          <p:nvPr/>
        </p:nvGraphicFramePr>
        <p:xfrm>
          <a:off x="5461600" y="335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{93A85CA3-641F-44B3-AA10-5CE022B20F5F}</a:tableStyleId>
              </a:tblPr>
              <a:tblGrid>
                <a:gridCol w="1650775"/>
                <a:gridCol w="144802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Nome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FF"/>
                          </a:solidFill>
                        </a:rPr>
                        <a:t>Barack Obama</a:t>
                      </a:r>
                      <a:endParaRPr sz="12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Local de Nascimento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FF"/>
                          </a:solidFill>
                        </a:rPr>
                        <a:t>Hawaii</a:t>
                      </a:r>
                      <a:endParaRPr sz="12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Data de Nascimento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04/08/1961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Profissão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advogado, político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Esposa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Michelle Robinson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Filhos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Malia Ann, Natasha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Rotulagem Sequencial</a:t>
            </a:r>
            <a:endParaRPr/>
          </a:p>
        </p:txBody>
      </p:sp>
      <p:sp>
        <p:nvSpPr>
          <p:cNvPr id="93" name="Google Shape;93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Objetivo: atribuir um dado rótulo a cada palavra de um sentença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Rótulos dependem de outras palavras da sequência (não é i.i.d)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Algumas Tarefas…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Named Entity Recognition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Rotulagem de Papel Semântico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Part-of-Speech Tagging (Rotulagem de Classe Gramatical)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Bioinformática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Named Entity Recognition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❖"/>
            </a:pPr>
            <a:r>
              <a:rPr b="0" i="0" lang="en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Identificar nomes de pessoas, locais etc no texto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8761D"/>
                </a:solidFill>
                <a:highlight>
                  <a:srgbClr val="FFFF00"/>
                </a:highlight>
                <a:latin typeface="Oi"/>
                <a:ea typeface="Oi"/>
                <a:cs typeface="Oi"/>
                <a:sym typeface="Oi"/>
              </a:rPr>
              <a:t>people</a:t>
            </a:r>
            <a:r>
              <a:rPr b="0" i="0" lang="en" sz="1600" u="none" cap="none" strike="noStrike">
                <a:solidFill>
                  <a:srgbClr val="595959"/>
                </a:solidFill>
                <a:latin typeface="Oi"/>
                <a:ea typeface="Oi"/>
                <a:cs typeface="Oi"/>
                <a:sym typeface="Oi"/>
              </a:rPr>
              <a:t>		</a:t>
            </a:r>
            <a:r>
              <a:rPr b="0" i="0" lang="en" sz="1600" u="none" cap="none" strike="noStrike">
                <a:solidFill>
                  <a:srgbClr val="0000FF"/>
                </a:solidFill>
                <a:highlight>
                  <a:srgbClr val="CCCCCC"/>
                </a:highlight>
                <a:latin typeface="Oi"/>
                <a:ea typeface="Oi"/>
                <a:cs typeface="Oi"/>
                <a:sym typeface="Oi"/>
              </a:rPr>
              <a:t>organizations</a:t>
            </a:r>
            <a:r>
              <a:rPr b="0" i="0" lang="en" sz="1600" u="none" cap="none" strike="noStrike">
                <a:solidFill>
                  <a:srgbClr val="595959"/>
                </a:solidFill>
                <a:latin typeface="Oi"/>
                <a:ea typeface="Oi"/>
                <a:cs typeface="Oi"/>
                <a:sym typeface="Oi"/>
              </a:rPr>
              <a:t>		</a:t>
            </a:r>
            <a:r>
              <a:rPr b="0" i="0" lang="en" sz="1600" u="none" cap="none" strike="noStrike">
                <a:solidFill>
                  <a:srgbClr val="FFFFFF"/>
                </a:solidFill>
                <a:highlight>
                  <a:srgbClr val="351C75"/>
                </a:highlight>
                <a:latin typeface="Oi"/>
                <a:ea typeface="Oi"/>
                <a:cs typeface="Oi"/>
                <a:sym typeface="Oi"/>
              </a:rPr>
              <a:t>places</a:t>
            </a:r>
            <a:endParaRPr b="0" i="0" sz="1600" u="none" cap="none" strike="noStrike">
              <a:solidFill>
                <a:srgbClr val="FFFFFF"/>
              </a:solidFill>
              <a:highlight>
                <a:srgbClr val="351C75"/>
              </a:highlight>
              <a:latin typeface="Oi"/>
              <a:ea typeface="Oi"/>
              <a:cs typeface="Oi"/>
              <a:sym typeface="O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8761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Michael Dell</a:t>
            </a:r>
            <a:r>
              <a:rPr b="1" i="0" lang="en" sz="12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is the CEO of </a:t>
            </a:r>
            <a:r>
              <a:rPr b="1" i="0" lang="en" sz="1200" u="none" cap="none" strike="noStrike">
                <a:solidFill>
                  <a:srgbClr val="0000FF"/>
                </a:solidFill>
                <a:highlight>
                  <a:srgbClr val="CCCCCC"/>
                </a:highlight>
                <a:latin typeface="Courier New"/>
                <a:ea typeface="Courier New"/>
                <a:cs typeface="Courier New"/>
                <a:sym typeface="Courier New"/>
              </a:rPr>
              <a:t>Dell Computer Corporation</a:t>
            </a:r>
            <a:r>
              <a:rPr b="1" i="0" lang="en" sz="12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and lives in </a:t>
            </a:r>
            <a:r>
              <a:rPr b="1" i="0" lang="en" sz="1200" u="none" cap="none" strike="noStrike">
                <a:solidFill>
                  <a:srgbClr val="FFFFFF"/>
                </a:solidFill>
                <a:highlight>
                  <a:srgbClr val="20124D"/>
                </a:highlight>
                <a:latin typeface="Courier New"/>
                <a:ea typeface="Courier New"/>
                <a:cs typeface="Courier New"/>
                <a:sym typeface="Courier New"/>
              </a:rPr>
              <a:t>Austin Texas</a:t>
            </a:r>
            <a:r>
              <a:rPr b="1" i="0" lang="en" sz="12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❖"/>
            </a:pPr>
            <a:r>
              <a:rPr b="0" i="0" lang="en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Extrair partes de informação relevante para uma dada aplicação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595959"/>
                </a:solidFill>
                <a:highlight>
                  <a:srgbClr val="FF00FF"/>
                </a:highlight>
                <a:latin typeface="Oi"/>
                <a:ea typeface="Oi"/>
                <a:cs typeface="Oi"/>
                <a:sym typeface="Oi"/>
              </a:rPr>
              <a:t>make</a:t>
            </a:r>
            <a:r>
              <a:rPr b="0" i="0" lang="en" sz="1600" u="none" cap="none" strike="noStrike">
                <a:solidFill>
                  <a:srgbClr val="595959"/>
                </a:solidFill>
                <a:latin typeface="Oi"/>
                <a:ea typeface="Oi"/>
                <a:cs typeface="Oi"/>
                <a:sym typeface="Oi"/>
              </a:rPr>
              <a:t>	</a:t>
            </a:r>
            <a:r>
              <a:rPr b="0" i="0" lang="en" sz="1600" u="none" cap="none" strike="noStrike">
                <a:solidFill>
                  <a:srgbClr val="38761D"/>
                </a:solidFill>
                <a:highlight>
                  <a:srgbClr val="D9D9D9"/>
                </a:highlight>
                <a:latin typeface="Oi"/>
                <a:ea typeface="Oi"/>
                <a:cs typeface="Oi"/>
                <a:sym typeface="Oi"/>
              </a:rPr>
              <a:t>model</a:t>
            </a:r>
            <a:r>
              <a:rPr b="0" i="0" lang="en" sz="1600" u="none" cap="none" strike="noStrike">
                <a:solidFill>
                  <a:srgbClr val="595959"/>
                </a:solidFill>
                <a:latin typeface="Oi"/>
                <a:ea typeface="Oi"/>
                <a:cs typeface="Oi"/>
                <a:sym typeface="Oi"/>
              </a:rPr>
              <a:t>	</a:t>
            </a:r>
            <a:r>
              <a:rPr b="0" i="0" lang="en" sz="1600" u="none" cap="none" strike="noStrike">
                <a:solidFill>
                  <a:srgbClr val="0000FF"/>
                </a:solidFill>
                <a:highlight>
                  <a:srgbClr val="EAD1DC"/>
                </a:highlight>
                <a:latin typeface="Oi"/>
                <a:ea typeface="Oi"/>
                <a:cs typeface="Oi"/>
                <a:sym typeface="Oi"/>
              </a:rPr>
              <a:t>year</a:t>
            </a:r>
            <a:r>
              <a:rPr b="0" i="0" lang="en" sz="1600" u="none" cap="none" strike="noStrike">
                <a:solidFill>
                  <a:srgbClr val="1155CC"/>
                </a:solidFill>
                <a:highlight>
                  <a:srgbClr val="EA9999"/>
                </a:highlight>
                <a:latin typeface="Oi"/>
                <a:ea typeface="Oi"/>
                <a:cs typeface="Oi"/>
                <a:sym typeface="Oi"/>
              </a:rPr>
              <a:t>	</a:t>
            </a:r>
            <a:r>
              <a:rPr b="0" i="0" lang="en" sz="1600" u="none" cap="none" strike="noStrike">
                <a:solidFill>
                  <a:srgbClr val="595959"/>
                </a:solidFill>
                <a:latin typeface="Oi"/>
                <a:ea typeface="Oi"/>
                <a:cs typeface="Oi"/>
                <a:sym typeface="Oi"/>
              </a:rPr>
              <a:t>	</a:t>
            </a:r>
            <a:r>
              <a:rPr b="0" i="0" lang="en" sz="1600" u="none" cap="none" strike="noStrike">
                <a:solidFill>
                  <a:srgbClr val="FF9900"/>
                </a:solidFill>
                <a:latin typeface="Oi"/>
                <a:ea typeface="Oi"/>
                <a:cs typeface="Oi"/>
                <a:sym typeface="Oi"/>
              </a:rPr>
              <a:t>mileage</a:t>
            </a:r>
            <a:r>
              <a:rPr b="0" i="0" lang="en" sz="1600" u="none" cap="none" strike="noStrike">
                <a:solidFill>
                  <a:srgbClr val="595959"/>
                </a:solidFill>
                <a:latin typeface="Oi"/>
                <a:ea typeface="Oi"/>
                <a:cs typeface="Oi"/>
                <a:sym typeface="Oi"/>
              </a:rPr>
              <a:t>	</a:t>
            </a:r>
            <a:r>
              <a:rPr b="0" i="0" lang="en" sz="16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Oi"/>
                <a:ea typeface="Oi"/>
                <a:cs typeface="Oi"/>
                <a:sym typeface="Oi"/>
              </a:rPr>
              <a:t>price</a:t>
            </a:r>
            <a:endParaRPr b="0" i="0" sz="1600" u="none" cap="none" strike="noStrike">
              <a:solidFill>
                <a:srgbClr val="FF0000"/>
              </a:solidFill>
              <a:highlight>
                <a:srgbClr val="FFFF00"/>
              </a:highlight>
              <a:latin typeface="Oi"/>
              <a:ea typeface="Oi"/>
              <a:cs typeface="Oi"/>
              <a:sym typeface="O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For sale, </a:t>
            </a:r>
            <a:r>
              <a:rPr b="1" i="0" lang="en" sz="1200" u="none" cap="none" strike="noStrike">
                <a:solidFill>
                  <a:srgbClr val="0000FF"/>
                </a:solidFill>
                <a:highlight>
                  <a:srgbClr val="EAD1DC"/>
                </a:highlight>
                <a:latin typeface="Courier New"/>
                <a:ea typeface="Courier New"/>
                <a:cs typeface="Courier New"/>
                <a:sym typeface="Courier New"/>
              </a:rPr>
              <a:t>2002</a:t>
            </a:r>
            <a:r>
              <a:rPr b="1" i="0" lang="en" sz="12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200" u="none" cap="none" strike="noStrike">
                <a:solidFill>
                  <a:srgbClr val="595959"/>
                </a:solidFill>
                <a:highlight>
                  <a:srgbClr val="FF00FF"/>
                </a:highlight>
                <a:latin typeface="Courier New"/>
                <a:ea typeface="Courier New"/>
                <a:cs typeface="Courier New"/>
                <a:sym typeface="Courier New"/>
              </a:rPr>
              <a:t>Toyota</a:t>
            </a:r>
            <a:r>
              <a:rPr b="1" i="0" lang="en" sz="12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200" u="none" cap="none" strike="noStrike">
                <a:solidFill>
                  <a:srgbClr val="38761D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Prius</a:t>
            </a:r>
            <a:r>
              <a:rPr b="1" i="0" lang="en" sz="12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" sz="1200" u="none" cap="none" strike="noStrik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20,000 mi</a:t>
            </a:r>
            <a:r>
              <a:rPr b="1" i="0" lang="en" sz="12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" sz="12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$15K</a:t>
            </a:r>
            <a:r>
              <a:rPr b="1" i="0" lang="en" sz="12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or best offer. </a:t>
            </a:r>
            <a:endParaRPr b="1" i="0" sz="1200" u="none" cap="none" strike="noStrike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Available starting July 30, 2006.</a:t>
            </a:r>
            <a:endParaRPr b="1" i="0" sz="1200" u="none" cap="none" strike="noStrike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60500" y="2092600"/>
            <a:ext cx="7382700" cy="351900"/>
          </a:xfrm>
          <a:prstGeom prst="rect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760125" y="3467300"/>
            <a:ext cx="5622600" cy="502800"/>
          </a:xfrm>
          <a:prstGeom prst="rect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Rotulagem de Papel Semântico</a:t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4641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Determina o papel semântico de cada noun phrase que é argumento do verbo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FF"/>
                </a:solidFill>
                <a:latin typeface="Oi"/>
                <a:ea typeface="Oi"/>
                <a:cs typeface="Oi"/>
                <a:sym typeface="Oi"/>
              </a:rPr>
              <a:t>agent</a:t>
            </a:r>
            <a:r>
              <a:rPr b="0" i="0" lang="en" sz="1800" u="none" cap="none" strike="noStrike">
                <a:solidFill>
                  <a:srgbClr val="595959"/>
                </a:solidFill>
                <a:latin typeface="Oi"/>
                <a:ea typeface="Oi"/>
                <a:cs typeface="Oi"/>
                <a:sym typeface="Oi"/>
              </a:rPr>
              <a:t>	</a:t>
            </a:r>
            <a:r>
              <a:rPr b="0" i="0" lang="en" sz="1800" u="none" cap="none" strike="noStrike">
                <a:solidFill>
                  <a:srgbClr val="FF00FF"/>
                </a:solidFill>
                <a:latin typeface="Oi"/>
                <a:ea typeface="Oi"/>
                <a:cs typeface="Oi"/>
                <a:sym typeface="Oi"/>
              </a:rPr>
              <a:t>patient</a:t>
            </a:r>
            <a:r>
              <a:rPr b="0" i="0" lang="en" sz="1800" u="none" cap="none" strike="noStrike">
                <a:solidFill>
                  <a:srgbClr val="595959"/>
                </a:solidFill>
                <a:latin typeface="Oi"/>
                <a:ea typeface="Oi"/>
                <a:cs typeface="Oi"/>
                <a:sym typeface="Oi"/>
              </a:rPr>
              <a:t>	</a:t>
            </a:r>
            <a:r>
              <a:rPr b="0" i="0" lang="en" sz="1800" u="none" cap="none" strike="noStrike">
                <a:solidFill>
                  <a:srgbClr val="38761D"/>
                </a:solidFill>
                <a:latin typeface="Oi"/>
                <a:ea typeface="Oi"/>
                <a:cs typeface="Oi"/>
                <a:sym typeface="Oi"/>
              </a:rPr>
              <a:t>source</a:t>
            </a:r>
            <a:r>
              <a:rPr b="0" i="0" lang="en" sz="1800" u="none" cap="none" strike="noStrike">
                <a:solidFill>
                  <a:srgbClr val="595959"/>
                </a:solidFill>
                <a:latin typeface="Oi"/>
                <a:ea typeface="Oi"/>
                <a:cs typeface="Oi"/>
                <a:sym typeface="Oi"/>
              </a:rPr>
              <a:t>	</a:t>
            </a:r>
            <a:r>
              <a:rPr b="0" i="0" lang="en" sz="1800" u="none" cap="none" strike="noStrike">
                <a:solidFill>
                  <a:srgbClr val="6D9EEB"/>
                </a:solidFill>
                <a:highlight>
                  <a:srgbClr val="FFFF00"/>
                </a:highlight>
                <a:latin typeface="Oi"/>
                <a:ea typeface="Oi"/>
                <a:cs typeface="Oi"/>
                <a:sym typeface="Oi"/>
              </a:rPr>
              <a:t>destination</a:t>
            </a:r>
            <a:r>
              <a:rPr b="0" i="0" lang="en" sz="1800" u="none" cap="none" strike="noStrike">
                <a:solidFill>
                  <a:srgbClr val="595959"/>
                </a:solidFill>
                <a:latin typeface="Oi"/>
                <a:ea typeface="Oi"/>
                <a:cs typeface="Oi"/>
                <a:sym typeface="Oi"/>
              </a:rPr>
              <a:t>	</a:t>
            </a:r>
            <a:r>
              <a:rPr b="0" i="0" lang="en" sz="1800" u="none" cap="none" strike="noStrike">
                <a:solidFill>
                  <a:srgbClr val="9900FF"/>
                </a:solidFill>
                <a:latin typeface="Oi"/>
                <a:ea typeface="Oi"/>
                <a:cs typeface="Oi"/>
                <a:sym typeface="Oi"/>
              </a:rPr>
              <a:t>instrument</a:t>
            </a:r>
            <a:endParaRPr b="0" i="0" sz="1800" u="none" cap="none" strike="noStrike">
              <a:solidFill>
                <a:srgbClr val="9900FF"/>
              </a:solidFill>
              <a:latin typeface="Oi"/>
              <a:ea typeface="Oi"/>
              <a:cs typeface="Oi"/>
              <a:sym typeface="O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John</a:t>
            </a:r>
            <a:r>
              <a:rPr b="0" i="0" lang="en" sz="15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drove </a:t>
            </a:r>
            <a:r>
              <a:rPr b="0" i="0" lang="en" sz="1500" u="none" cap="none" strike="noStrik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Mary</a:t>
            </a:r>
            <a:r>
              <a:rPr b="0" i="0" lang="en" sz="15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from </a:t>
            </a:r>
            <a:r>
              <a:rPr b="0" i="0" lang="en" sz="15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Austin</a:t>
            </a:r>
            <a:r>
              <a:rPr b="0" i="0" lang="en" sz="15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to </a:t>
            </a:r>
            <a:r>
              <a:rPr b="0" i="0" lang="en" sz="1500" u="none" cap="none" strike="noStrike">
                <a:solidFill>
                  <a:srgbClr val="4A86E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Dallas</a:t>
            </a:r>
            <a:r>
              <a:rPr b="0" i="0" lang="en" sz="15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in </a:t>
            </a:r>
            <a:r>
              <a:rPr b="0" i="0" lang="en" sz="1500" u="none" cap="none" strike="noStrik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his</a:t>
            </a:r>
            <a:r>
              <a:rPr b="0" i="0" lang="en" sz="15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00" u="none" cap="none" strike="noStrik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Toyota Prius</a:t>
            </a:r>
            <a:r>
              <a:rPr b="0" i="0" lang="en" sz="15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500" u="none" cap="none" strike="noStrike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The hammer</a:t>
            </a:r>
            <a:r>
              <a:rPr b="0" i="0" lang="en" sz="15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broke </a:t>
            </a:r>
            <a:r>
              <a:rPr b="0" i="0" lang="en" sz="1500" u="none" cap="none" strike="noStrik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the window</a:t>
            </a:r>
            <a:r>
              <a:rPr b="0" i="0" lang="en" sz="15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500" u="none" cap="none" strike="noStrike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8" name="Google Shape;108;p5"/>
          <p:cNvCxnSpPr/>
          <p:nvPr/>
        </p:nvCxnSpPr>
        <p:spPr>
          <a:xfrm>
            <a:off x="1176900" y="3129650"/>
            <a:ext cx="6688500" cy="29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Bioinformática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Rotular sequências genéticas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exon</a:t>
            </a:r>
            <a:r>
              <a:rPr lang="en"/>
              <a:t>			</a:t>
            </a:r>
            <a:r>
              <a:rPr lang="en">
                <a:solidFill>
                  <a:srgbClr val="0000FF"/>
                </a:solidFill>
              </a:rPr>
              <a:t>intron</a:t>
            </a:r>
            <a:endParaRPr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" sz="2400">
                <a:solidFill>
                  <a:srgbClr val="0000FF"/>
                </a:solidFill>
              </a:rPr>
              <a:t>AGC</a:t>
            </a:r>
            <a:r>
              <a:rPr b="1" lang="en" sz="2400">
                <a:solidFill>
                  <a:srgbClr val="FF0000"/>
                </a:solidFill>
              </a:rPr>
              <a:t>TAACGTTC</a:t>
            </a:r>
            <a:r>
              <a:rPr b="1" lang="en" sz="2400">
                <a:solidFill>
                  <a:srgbClr val="0000FF"/>
                </a:solidFill>
              </a:rPr>
              <a:t>GATACG</a:t>
            </a:r>
            <a:r>
              <a:rPr b="1" lang="en" sz="2400">
                <a:solidFill>
                  <a:srgbClr val="FF0000"/>
                </a:solidFill>
              </a:rPr>
              <a:t>GATTACA</a:t>
            </a:r>
            <a:r>
              <a:rPr b="1" lang="en" sz="2400">
                <a:solidFill>
                  <a:srgbClr val="0000FF"/>
                </a:solidFill>
              </a:rPr>
              <a:t>GCCT</a:t>
            </a:r>
            <a:endParaRPr b="1" sz="24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Como identificar cada um desses rótulos?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77">
                <a:solidFill>
                  <a:srgbClr val="666666"/>
                </a:solidFill>
              </a:rPr>
              <a:t>Part-of-Speech Tagging</a:t>
            </a:r>
            <a:endParaRPr sz="3377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77">
                <a:solidFill>
                  <a:srgbClr val="666666"/>
                </a:solidFill>
              </a:rPr>
              <a:t>Named Entity Recognition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Part-of-speech Tagging</a:t>
            </a:r>
            <a:endParaRPr/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311700" y="1152475"/>
            <a:ext cx="85206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Atribuir a classe gramatical a cada palavra de uma sentença</a:t>
            </a:r>
            <a:br>
              <a:rPr lang="en"/>
            </a:br>
            <a:r>
              <a:rPr lang="en"/>
              <a:t>(substantivo, adjetivo, verbo etc)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Útil para tarefa de desambiguação: palavras podem ter mais de uma classe gramatical</a:t>
            </a:r>
            <a:br>
              <a:rPr lang="en"/>
            </a:br>
            <a:r>
              <a:rPr lang="en"/>
              <a:t>Ex: book, that etc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Classe mais frequente da palavra já tem alta acurácia</a:t>
            </a:r>
            <a:endParaRPr/>
          </a:p>
        </p:txBody>
      </p:sp>
      <p:sp>
        <p:nvSpPr>
          <p:cNvPr id="126" name="Google Shape;126;p8"/>
          <p:cNvSpPr txBox="1"/>
          <p:nvPr/>
        </p:nvSpPr>
        <p:spPr>
          <a:xfrm>
            <a:off x="1554750" y="3490950"/>
            <a:ext cx="603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John</a:t>
            </a: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saw</a:t>
            </a: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saw</a:t>
            </a: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decided</a:t>
            </a: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take</a:t>
            </a: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it</a:t>
            </a: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PN     V    Det   N    Con     V          Part    V     Pro   Prep   Det     N</a:t>
            </a:r>
            <a:endParaRPr b="0" i="0" sz="14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Part-of-speech Tagging</a:t>
            </a:r>
            <a:endParaRPr/>
          </a:p>
        </p:txBody>
      </p:sp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311700" y="1152475"/>
            <a:ext cx="8520600" cy="2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Textos em inglês</a:t>
            </a:r>
            <a:endParaRPr sz="2400"/>
          </a:p>
          <a:p>
            <a:pPr indent="-3810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000"/>
              <a:t>Pequena proporção das palavras possui mais de uma classe (85-86%)</a:t>
            </a:r>
            <a:endParaRPr sz="2000"/>
          </a:p>
          <a:p>
            <a:pPr indent="-3810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000"/>
              <a:t>Palavras com mais de uma classe gramatical são mais frequentes (55-67%)</a:t>
            </a:r>
            <a:endParaRPr sz="2000"/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pic>
        <p:nvPicPr>
          <p:cNvPr id="133" name="Google Shape;1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5350" y="3048000"/>
            <a:ext cx="5979150" cy="15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Part-of-speech Tagging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39" name="Google Shape;1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3400" y="1093800"/>
            <a:ext cx="6172343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311700" y="1152475"/>
            <a:ext cx="24717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Closed class: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/>
              <a:t>Preposições e pronomes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/>
              <a:t>Tendem a ser curtos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/>
              <a:t>Alta frequência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/>
              <a:t>Open class: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/>
              <a:t>Substantivos, verbos, adjetivos e advérbios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/>
              <a:t>Constantemente sendo criados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POS no Penn Treebank</a:t>
            </a:r>
            <a:endParaRPr/>
          </a:p>
        </p:txBody>
      </p:sp>
      <p:pic>
        <p:nvPicPr>
          <p:cNvPr id="146" name="Google Shape;1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538" y="1125275"/>
            <a:ext cx="8162925" cy="35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Exemplos de rotulagem</a:t>
            </a: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311700" y="1705325"/>
            <a:ext cx="8520600" cy="25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There/</a:t>
            </a:r>
            <a:r>
              <a:rPr b="1" lang="en" sz="1600">
                <a:solidFill>
                  <a:srgbClr val="0000FF"/>
                </a:solidFill>
              </a:rPr>
              <a:t>PRON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EX</a:t>
            </a:r>
            <a:r>
              <a:rPr lang="en" sz="1600"/>
              <a:t> are/</a:t>
            </a:r>
            <a:r>
              <a:rPr b="1" lang="en" sz="1600">
                <a:solidFill>
                  <a:srgbClr val="0000FF"/>
                </a:solidFill>
              </a:rPr>
              <a:t>VERB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VBP</a:t>
            </a:r>
            <a:r>
              <a:rPr lang="en" sz="1600"/>
              <a:t> 70/</a:t>
            </a:r>
            <a:r>
              <a:rPr b="1" lang="en" sz="1600">
                <a:solidFill>
                  <a:srgbClr val="0000FF"/>
                </a:solidFill>
              </a:rPr>
              <a:t>NUM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CD</a:t>
            </a:r>
            <a:r>
              <a:rPr lang="en" sz="1600"/>
              <a:t> children/</a:t>
            </a:r>
            <a:r>
              <a:rPr b="1" lang="en" sz="1600">
                <a:solidFill>
                  <a:srgbClr val="0000FF"/>
                </a:solidFill>
              </a:rPr>
              <a:t>NOUN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NNS</a:t>
            </a:r>
            <a:r>
              <a:rPr lang="en" sz="1600"/>
              <a:t> there/</a:t>
            </a:r>
            <a:r>
              <a:rPr b="1" lang="en" sz="1600">
                <a:solidFill>
                  <a:srgbClr val="0000FF"/>
                </a:solidFill>
              </a:rPr>
              <a:t>ADV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RB</a:t>
            </a:r>
            <a:r>
              <a:rPr lang="en" sz="1600"/>
              <a:t> ./</a:t>
            </a:r>
            <a:r>
              <a:rPr b="1" lang="en" sz="1600">
                <a:solidFill>
                  <a:srgbClr val="0000FF"/>
                </a:solidFill>
              </a:rPr>
              <a:t>PUNC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.</a:t>
            </a:r>
            <a:endParaRPr b="1"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Preliminary/</a:t>
            </a:r>
            <a:r>
              <a:rPr b="1" lang="en" sz="1600">
                <a:solidFill>
                  <a:srgbClr val="0000FF"/>
                </a:solidFill>
              </a:rPr>
              <a:t>ADJ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JJ</a:t>
            </a:r>
            <a:r>
              <a:rPr lang="en" sz="1600"/>
              <a:t> findings/</a:t>
            </a:r>
            <a:r>
              <a:rPr b="1" lang="en" sz="1600">
                <a:solidFill>
                  <a:srgbClr val="0000FF"/>
                </a:solidFill>
              </a:rPr>
              <a:t>NOUN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NNS</a:t>
            </a:r>
            <a:r>
              <a:rPr lang="en" sz="1600"/>
              <a:t> were/</a:t>
            </a:r>
            <a:r>
              <a:rPr b="1" lang="en" sz="1600">
                <a:solidFill>
                  <a:srgbClr val="0000FF"/>
                </a:solidFill>
              </a:rPr>
              <a:t>AUX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VBD</a:t>
            </a:r>
            <a:r>
              <a:rPr lang="en" sz="1600"/>
              <a:t> reported/</a:t>
            </a:r>
            <a:r>
              <a:rPr b="1" lang="en" sz="1600">
                <a:solidFill>
                  <a:srgbClr val="0000FF"/>
                </a:solidFill>
              </a:rPr>
              <a:t>VERB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VBN</a:t>
            </a:r>
            <a:r>
              <a:rPr lang="en" sz="1600"/>
              <a:t> in/</a:t>
            </a:r>
            <a:r>
              <a:rPr b="1" lang="en" sz="1600">
                <a:solidFill>
                  <a:srgbClr val="0000FF"/>
                </a:solidFill>
              </a:rPr>
              <a:t>ADP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IN</a:t>
            </a:r>
            <a:r>
              <a:rPr lang="en" sz="1600"/>
              <a:t> today/</a:t>
            </a:r>
            <a:r>
              <a:rPr b="1" lang="en" sz="1600">
                <a:solidFill>
                  <a:srgbClr val="0000FF"/>
                </a:solidFill>
              </a:rPr>
              <a:t>NOUN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NN</a:t>
            </a:r>
            <a:r>
              <a:rPr lang="en" sz="1600"/>
              <a:t> ’s/</a:t>
            </a:r>
            <a:r>
              <a:rPr b="1" lang="en" sz="1600">
                <a:solidFill>
                  <a:srgbClr val="0000FF"/>
                </a:solidFill>
              </a:rPr>
              <a:t>PART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POS</a:t>
            </a:r>
            <a:r>
              <a:rPr lang="en" sz="1600"/>
              <a:t> New/</a:t>
            </a:r>
            <a:r>
              <a:rPr b="1" lang="en" sz="1600">
                <a:solidFill>
                  <a:srgbClr val="0000FF"/>
                </a:solidFill>
              </a:rPr>
              <a:t>PROPN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NNP</a:t>
            </a:r>
            <a:r>
              <a:rPr lang="en" sz="1600"/>
              <a:t> England/</a:t>
            </a:r>
            <a:r>
              <a:rPr b="1" lang="en" sz="1600">
                <a:solidFill>
                  <a:srgbClr val="0000FF"/>
                </a:solidFill>
              </a:rPr>
              <a:t>PROPN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NNP</a:t>
            </a:r>
            <a:r>
              <a:rPr lang="en" sz="1600"/>
              <a:t> Journal/</a:t>
            </a:r>
            <a:r>
              <a:rPr b="1" lang="en" sz="1600">
                <a:solidFill>
                  <a:srgbClr val="0000FF"/>
                </a:solidFill>
              </a:rPr>
              <a:t>PROPN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NNP</a:t>
            </a:r>
            <a:r>
              <a:rPr lang="en" sz="1600"/>
              <a:t> of/</a:t>
            </a:r>
            <a:r>
              <a:rPr b="1" lang="en" sz="1600">
                <a:solidFill>
                  <a:srgbClr val="0000FF"/>
                </a:solidFill>
              </a:rPr>
              <a:t>ADP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IN</a:t>
            </a:r>
            <a:r>
              <a:rPr lang="en" sz="1600"/>
              <a:t> Medicine/</a:t>
            </a:r>
            <a:r>
              <a:rPr b="1" lang="en" sz="1600">
                <a:solidFill>
                  <a:srgbClr val="0000FF"/>
                </a:solidFill>
              </a:rPr>
              <a:t>PROPN</a:t>
            </a:r>
            <a:r>
              <a:rPr lang="en" sz="1600"/>
              <a:t>/</a:t>
            </a:r>
            <a:r>
              <a:rPr b="1" lang="en" sz="1600">
                <a:solidFill>
                  <a:srgbClr val="FF0000"/>
                </a:solidFill>
              </a:rPr>
              <a:t>NNP</a:t>
            </a:r>
            <a:endParaRPr b="1"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Named Entity Recognition (Information Extraction)</a:t>
            </a:r>
            <a:endParaRPr/>
          </a:p>
        </p:txBody>
      </p:sp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311700" y="1152475"/>
            <a:ext cx="85206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Named entity: tudo que se refere a um nome próprio (regra geral)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Pode ser qualquer entidade: produto, doenças etc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Usado em Natural Language Understanding: Q&amp;A, chatbot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Dificuldades: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Encontrar o pedaço do texto que contém a entidade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Ambiguidade: JFK (pessoa ou aeroporto)</a:t>
            </a:r>
            <a:endParaRPr/>
          </a:p>
        </p:txBody>
      </p:sp>
      <p:pic>
        <p:nvPicPr>
          <p:cNvPr id="159" name="Google Shape;1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1653775"/>
            <a:ext cx="817245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BIO Tagging</a:t>
            </a:r>
            <a:endParaRPr/>
          </a:p>
        </p:txBody>
      </p:sp>
      <p:sp>
        <p:nvSpPr>
          <p:cNvPr id="165" name="Google Shape;165;p14"/>
          <p:cNvSpPr txBox="1"/>
          <p:nvPr>
            <p:ph idx="1" type="body"/>
          </p:nvPr>
        </p:nvSpPr>
        <p:spPr>
          <a:xfrm>
            <a:off x="311700" y="1152475"/>
            <a:ext cx="85206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Convenção para rotulagem de sequência</a:t>
            </a:r>
            <a:endParaRPr/>
          </a:p>
        </p:txBody>
      </p:sp>
      <p:pic>
        <p:nvPicPr>
          <p:cNvPr id="166" name="Google Shape;1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4038" y="1613575"/>
            <a:ext cx="686752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/>
          <p:nvPr/>
        </p:nvSpPr>
        <p:spPr>
          <a:xfrm>
            <a:off x="311700" y="1613575"/>
            <a:ext cx="1283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- Beginning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- Inside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- End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- Outside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490250" y="450150"/>
            <a:ext cx="79584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900"/>
              <a:t>Modelos de Rotulagem Sequencial</a:t>
            </a:r>
            <a:endParaRPr sz="3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533">
                <a:solidFill>
                  <a:schemeClr val="dk2"/>
                </a:solidFill>
              </a:rPr>
              <a:t>Hidden Markov Model (HMM)</a:t>
            </a:r>
            <a:endParaRPr sz="2533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533">
                <a:solidFill>
                  <a:schemeClr val="dk2"/>
                </a:solidFill>
              </a:rPr>
              <a:t>Recurrent Neural Networks (RNN)</a:t>
            </a:r>
            <a:endParaRPr sz="2533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Hidden Markov Model para POS Tagging</a:t>
            </a:r>
            <a:endParaRPr/>
          </a:p>
        </p:txBody>
      </p:sp>
      <p:sp>
        <p:nvSpPr>
          <p:cNvPr id="178" name="Google Shape;178;p16"/>
          <p:cNvSpPr txBox="1"/>
          <p:nvPr>
            <p:ph idx="1" type="body"/>
          </p:nvPr>
        </p:nvSpPr>
        <p:spPr>
          <a:xfrm>
            <a:off x="200575" y="1152488"/>
            <a:ext cx="4260300" cy="3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Modelo probabilístico sequencial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Computa a probabilidade para possíveis sequências de rótulos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Escolhe a melhor sequência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Rótulos estão escondidos (hidden)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Observa palavras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Inferir rótulos (ex. POS) da sequência de palavras</a:t>
            </a:r>
            <a:endParaRPr/>
          </a:p>
        </p:txBody>
      </p:sp>
      <p:pic>
        <p:nvPicPr>
          <p:cNvPr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9145" y="1843438"/>
            <a:ext cx="4738400" cy="233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Markov Chain</a:t>
            </a:r>
            <a:endParaRPr/>
          </a:p>
        </p:txBody>
      </p:sp>
      <p:sp>
        <p:nvSpPr>
          <p:cNvPr id="185" name="Google Shape;185;p17"/>
          <p:cNvSpPr txBox="1"/>
          <p:nvPr>
            <p:ph idx="1" type="body"/>
          </p:nvPr>
        </p:nvSpPr>
        <p:spPr>
          <a:xfrm>
            <a:off x="311700" y="1076275"/>
            <a:ext cx="85206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Quando prevendo o rótulo futuro, o passado não importa. Somente o estado presente.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311700" y="1866100"/>
            <a:ext cx="8520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Markov Assumption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P(q</a:t>
            </a:r>
            <a:r>
              <a:rPr b="0" baseline="-2500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a|q</a:t>
            </a:r>
            <a:r>
              <a:rPr b="0" baseline="-2500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...q</a:t>
            </a:r>
            <a:r>
              <a:rPr b="0" baseline="-2500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i−1</a:t>
            </a:r>
            <a:r>
              <a:rPr b="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P(q</a:t>
            </a:r>
            <a:r>
              <a:rPr b="0" baseline="-2500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a|q</a:t>
            </a:r>
            <a:r>
              <a:rPr b="0" baseline="-2500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i−1</a:t>
            </a:r>
            <a:r>
              <a:rPr b="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1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4438" y="2583025"/>
            <a:ext cx="6715125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426350" y="1996900"/>
            <a:ext cx="162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π = [0.1, 0.7, 0.2]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HMM Tagger: Componentes</a:t>
            </a:r>
            <a:endParaRPr/>
          </a:p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>
            <a:off x="311700" y="1152475"/>
            <a:ext cx="8520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Matriz A</a:t>
            </a:r>
            <a:r>
              <a:rPr lang="en"/>
              <a:t>: probabilidades de transição das tags</a:t>
            </a:r>
            <a:endParaRPr/>
          </a:p>
        </p:txBody>
      </p:sp>
      <p:pic>
        <p:nvPicPr>
          <p:cNvPr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875" y="1951600"/>
            <a:ext cx="20002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9388" y="3741100"/>
            <a:ext cx="370522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311713" y="3143225"/>
            <a:ext cx="8520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b="1" lang="en" sz="1385">
                <a:solidFill>
                  <a:schemeClr val="dk1"/>
                </a:solidFill>
              </a:rPr>
              <a:t>Exemplo</a:t>
            </a:r>
            <a:r>
              <a:rPr lang="en" sz="1385"/>
              <a:t> No corpus WSJ, </a:t>
            </a:r>
            <a:r>
              <a:rPr b="1" lang="en" sz="1385"/>
              <a:t>MD </a:t>
            </a:r>
            <a:r>
              <a:rPr lang="en" sz="1385"/>
              <a:t>ocorre 13.124 no corpus sendo que 10.471 vezes a tag </a:t>
            </a:r>
            <a:r>
              <a:rPr b="1" lang="en" sz="1385"/>
              <a:t>MD</a:t>
            </a:r>
            <a:r>
              <a:rPr lang="en" sz="1385"/>
              <a:t> aparece seguida pela tag </a:t>
            </a:r>
            <a:r>
              <a:rPr b="1" lang="en" sz="1385"/>
              <a:t>VB</a:t>
            </a:r>
            <a:r>
              <a:rPr lang="en" sz="1385"/>
              <a:t>. Logo, a probabilidade de termos uma tag </a:t>
            </a:r>
            <a:r>
              <a:rPr b="1" lang="en" sz="1385"/>
              <a:t>MD</a:t>
            </a:r>
            <a:r>
              <a:rPr lang="en" sz="1385"/>
              <a:t> seguida de </a:t>
            </a:r>
            <a:r>
              <a:rPr b="1" lang="en" sz="1385"/>
              <a:t>VB</a:t>
            </a:r>
            <a:r>
              <a:rPr lang="en" sz="1385"/>
              <a:t> é:</a:t>
            </a:r>
            <a:endParaRPr sz="1385"/>
          </a:p>
        </p:txBody>
      </p:sp>
      <p:sp>
        <p:nvSpPr>
          <p:cNvPr id="198" name="Google Shape;198;p19"/>
          <p:cNvSpPr txBox="1"/>
          <p:nvPr/>
        </p:nvSpPr>
        <p:spPr>
          <a:xfrm>
            <a:off x="1525450" y="1918863"/>
            <a:ext cx="167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probabilidade de uma tag ocorrer observando-se uma tag anterior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6336475" y="1760125"/>
            <a:ext cx="109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Contagem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19"/>
          <p:cNvCxnSpPr>
            <a:endCxn id="199" idx="1"/>
          </p:cNvCxnSpPr>
          <p:nvPr/>
        </p:nvCxnSpPr>
        <p:spPr>
          <a:xfrm flipH="1" rot="10800000">
            <a:off x="5573575" y="1929475"/>
            <a:ext cx="762900" cy="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201" name="Google Shape;201;p19"/>
          <p:cNvCxnSpPr>
            <a:endCxn id="199" idx="1"/>
          </p:cNvCxnSpPr>
          <p:nvPr/>
        </p:nvCxnSpPr>
        <p:spPr>
          <a:xfrm flipH="1" rot="10800000">
            <a:off x="5544475" y="1929475"/>
            <a:ext cx="792000" cy="51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202" name="Google Shape;202;p19"/>
          <p:cNvSpPr txBox="1"/>
          <p:nvPr/>
        </p:nvSpPr>
        <p:spPr>
          <a:xfrm>
            <a:off x="7324100" y="3999400"/>
            <a:ext cx="83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MD: Modal</a:t>
            </a:r>
            <a:br>
              <a:rPr b="1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VB: Verb</a:t>
            </a:r>
            <a:endParaRPr b="1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/>
          <p:nvPr/>
        </p:nvSpPr>
        <p:spPr>
          <a:xfrm>
            <a:off x="2728200" y="2438038"/>
            <a:ext cx="6180000" cy="49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684475" y="1672125"/>
            <a:ext cx="6396600" cy="778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684475" y="2876150"/>
            <a:ext cx="6396600" cy="85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OBSERVAÇÕES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Hidden Markov Model: Componentes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2537275" y="1779700"/>
            <a:ext cx="606300" cy="5727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0" baseline="-25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4312925" y="1779700"/>
            <a:ext cx="606300" cy="5727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0" baseline="-25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6090600" y="1779700"/>
            <a:ext cx="606300" cy="5727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0" baseline="-25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8"/>
          <p:cNvCxnSpPr>
            <a:stCxn id="211" idx="6"/>
            <a:endCxn id="212" idx="2"/>
          </p:cNvCxnSpPr>
          <p:nvPr/>
        </p:nvCxnSpPr>
        <p:spPr>
          <a:xfrm>
            <a:off x="3143575" y="2066050"/>
            <a:ext cx="116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" name="Google Shape;215;p18"/>
          <p:cNvCxnSpPr>
            <a:stCxn id="212" idx="6"/>
            <a:endCxn id="213" idx="2"/>
          </p:cNvCxnSpPr>
          <p:nvPr/>
        </p:nvCxnSpPr>
        <p:spPr>
          <a:xfrm>
            <a:off x="4919225" y="2066050"/>
            <a:ext cx="1171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6" name="Google Shape;216;p18"/>
          <p:cNvSpPr/>
          <p:nvPr/>
        </p:nvSpPr>
        <p:spPr>
          <a:xfrm>
            <a:off x="2537275" y="3050900"/>
            <a:ext cx="606300" cy="572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4312925" y="3050900"/>
            <a:ext cx="606300" cy="572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088575" y="3050900"/>
            <a:ext cx="606300" cy="572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18"/>
          <p:cNvCxnSpPr>
            <a:stCxn id="211" idx="4"/>
            <a:endCxn id="216" idx="0"/>
          </p:cNvCxnSpPr>
          <p:nvPr/>
        </p:nvCxnSpPr>
        <p:spPr>
          <a:xfrm>
            <a:off x="2840425" y="2352400"/>
            <a:ext cx="0" cy="69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" name="Google Shape;220;p18"/>
          <p:cNvCxnSpPr>
            <a:endCxn id="217" idx="0"/>
          </p:cNvCxnSpPr>
          <p:nvPr/>
        </p:nvCxnSpPr>
        <p:spPr>
          <a:xfrm>
            <a:off x="4616075" y="2352500"/>
            <a:ext cx="0" cy="69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1" name="Google Shape;221;p18"/>
          <p:cNvCxnSpPr>
            <a:stCxn id="213" idx="4"/>
            <a:endCxn id="218" idx="0"/>
          </p:cNvCxnSpPr>
          <p:nvPr/>
        </p:nvCxnSpPr>
        <p:spPr>
          <a:xfrm flipH="1">
            <a:off x="6391650" y="2352400"/>
            <a:ext cx="2100" cy="69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" name="Google Shape;222;p18"/>
          <p:cNvSpPr txBox="1"/>
          <p:nvPr/>
        </p:nvSpPr>
        <p:spPr>
          <a:xfrm>
            <a:off x="3461575" y="1672125"/>
            <a:ext cx="4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baseline="-2500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5305650" y="1672125"/>
            <a:ext cx="4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baseline="-2500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2861850" y="2475938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(o</a:t>
            </a:r>
            <a:r>
              <a:rPr b="0" baseline="-2500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baseline="-2500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4626750" y="2475938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(o</a:t>
            </a:r>
            <a:r>
              <a:rPr b="0" baseline="-2500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baseline="-2500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6391650" y="2463138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(o</a:t>
            </a:r>
            <a:r>
              <a:rPr b="0" baseline="-2500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baseline="-2500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6391650" y="445025"/>
            <a:ext cx="2017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Probabilidade de mover do </a:t>
            </a:r>
            <a:b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estado </a:t>
            </a:r>
            <a:r>
              <a:rPr b="0" i="1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ao estado </a:t>
            </a:r>
            <a:r>
              <a:rPr b="0" i="1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b="0" i="1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Matriz de Probabilidade de Transição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8" name="Google Shape;228;p18"/>
          <p:cNvCxnSpPr>
            <a:stCxn id="227" idx="1"/>
            <a:endCxn id="222" idx="3"/>
          </p:cNvCxnSpPr>
          <p:nvPr/>
        </p:nvCxnSpPr>
        <p:spPr>
          <a:xfrm flipH="1">
            <a:off x="3901650" y="960725"/>
            <a:ext cx="2490000" cy="911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29" name="Google Shape;229;p18"/>
          <p:cNvCxnSpPr>
            <a:stCxn id="227" idx="1"/>
            <a:endCxn id="223" idx="3"/>
          </p:cNvCxnSpPr>
          <p:nvPr/>
        </p:nvCxnSpPr>
        <p:spPr>
          <a:xfrm flipH="1">
            <a:off x="5745750" y="960725"/>
            <a:ext cx="645900" cy="911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30" name="Google Shape;230;p18"/>
          <p:cNvSpPr txBox="1"/>
          <p:nvPr/>
        </p:nvSpPr>
        <p:spPr>
          <a:xfrm>
            <a:off x="7157875" y="2455300"/>
            <a:ext cx="180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Probabilidade da Observação o</a:t>
            </a:r>
            <a:r>
              <a:rPr b="0" baseline="-25000" i="0" lang="en" sz="1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" sz="1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ter sido gerada pelo estado q</a:t>
            </a:r>
            <a:r>
              <a:rPr b="0" baseline="-25000" i="0" lang="en" sz="1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baseline="-25000" i="0" sz="10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311700" y="3850075"/>
            <a:ext cx="8520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Markov Assumption: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P(q</a:t>
            </a:r>
            <a:r>
              <a:rPr b="0" baseline="-2500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a|q</a:t>
            </a:r>
            <a:r>
              <a:rPr b="0" baseline="-2500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...q</a:t>
            </a:r>
            <a:r>
              <a:rPr b="0" baseline="-2500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i−1</a:t>
            </a:r>
            <a:r>
              <a:rPr b="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P(q</a:t>
            </a:r>
            <a:r>
              <a:rPr b="0" baseline="-2500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a|q</a:t>
            </a:r>
            <a:r>
              <a:rPr b="0" baseline="-2500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i−1</a:t>
            </a:r>
            <a:r>
              <a:rPr b="0" i="1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1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438775" y="4254900"/>
            <a:ext cx="8520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Independence: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P(o</a:t>
            </a:r>
            <a:r>
              <a:rPr b="0" baseline="-2500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|q</a:t>
            </a:r>
            <a:r>
              <a:rPr b="0" baseline="-2500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 . ., q</a:t>
            </a:r>
            <a:r>
              <a:rPr b="0" baseline="-2500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 . . , q</a:t>
            </a:r>
            <a:r>
              <a:rPr b="0" baseline="-2500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o</a:t>
            </a:r>
            <a:r>
              <a:rPr b="0" baseline="-2500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 . . , o</a:t>
            </a:r>
            <a:r>
              <a:rPr b="0" baseline="-2500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 . . , o</a:t>
            </a:r>
            <a:r>
              <a:rPr b="0" baseline="-2500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b="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P(o</a:t>
            </a:r>
            <a:r>
              <a:rPr b="0" baseline="-2500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|q</a:t>
            </a:r>
            <a:r>
              <a:rPr b="0" baseline="-2500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1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8037950" y="1593900"/>
            <a:ext cx="72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Matriz A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18"/>
          <p:cNvCxnSpPr>
            <a:stCxn id="227" idx="2"/>
            <a:endCxn id="233" idx="1"/>
          </p:cNvCxnSpPr>
          <p:nvPr/>
        </p:nvCxnSpPr>
        <p:spPr>
          <a:xfrm>
            <a:off x="7400550" y="1476425"/>
            <a:ext cx="637500" cy="27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18"/>
          <p:cNvSpPr txBox="1"/>
          <p:nvPr/>
        </p:nvSpPr>
        <p:spPr>
          <a:xfrm>
            <a:off x="7936125" y="3142100"/>
            <a:ext cx="72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Matriz B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18"/>
          <p:cNvCxnSpPr/>
          <p:nvPr/>
        </p:nvCxnSpPr>
        <p:spPr>
          <a:xfrm>
            <a:off x="8058625" y="2947900"/>
            <a:ext cx="184800" cy="1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HMM Tagger: Componentes</a:t>
            </a:r>
            <a:endParaRPr/>
          </a:p>
        </p:txBody>
      </p:sp>
      <p:sp>
        <p:nvSpPr>
          <p:cNvPr id="242" name="Google Shape;242;p20"/>
          <p:cNvSpPr txBox="1"/>
          <p:nvPr>
            <p:ph idx="1" type="body"/>
          </p:nvPr>
        </p:nvSpPr>
        <p:spPr>
          <a:xfrm>
            <a:off x="311700" y="1152475"/>
            <a:ext cx="8520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/>
              <a:t>Matriz B</a:t>
            </a:r>
            <a:r>
              <a:rPr lang="en"/>
              <a:t>: probabilidades de uma palavra associada a uma tag</a:t>
            </a:r>
            <a:endParaRPr/>
          </a:p>
        </p:txBody>
      </p:sp>
      <p:pic>
        <p:nvPicPr>
          <p:cNvPr id="243" name="Google Shape;2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5675" y="1894463"/>
            <a:ext cx="1952625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>
            <p:ph idx="1" type="body"/>
          </p:nvPr>
        </p:nvSpPr>
        <p:spPr>
          <a:xfrm>
            <a:off x="311713" y="3143225"/>
            <a:ext cx="8520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b="1" lang="en" sz="1385">
                <a:solidFill>
                  <a:schemeClr val="dk1"/>
                </a:solidFill>
              </a:rPr>
              <a:t>Exemplo</a:t>
            </a:r>
            <a:r>
              <a:rPr lang="en" sz="1385"/>
              <a:t> Das 13.124 ocorrências da tag MD no corpus WSJ, a tag está associada 4046 vezes à palavra “</a:t>
            </a:r>
            <a:r>
              <a:rPr i="1" lang="en" sz="1385"/>
              <a:t>will</a:t>
            </a:r>
            <a:r>
              <a:rPr lang="en" sz="1385"/>
              <a:t>”. Logo, a probabilidade de termos a palavra “</a:t>
            </a:r>
            <a:r>
              <a:rPr i="1" lang="en" sz="1385"/>
              <a:t>will</a:t>
            </a:r>
            <a:r>
              <a:rPr lang="en" sz="1385"/>
              <a:t>” associada à tag MD é dada por:</a:t>
            </a:r>
            <a:endParaRPr sz="1385"/>
          </a:p>
        </p:txBody>
      </p:sp>
      <p:sp>
        <p:nvSpPr>
          <p:cNvPr id="245" name="Google Shape;245;p20"/>
          <p:cNvSpPr txBox="1"/>
          <p:nvPr/>
        </p:nvSpPr>
        <p:spPr>
          <a:xfrm>
            <a:off x="1525450" y="1918863"/>
            <a:ext cx="167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probabilidade de uma palavra estar associada a uma determinada tag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6336475" y="1760125"/>
            <a:ext cx="109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Contagem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20"/>
          <p:cNvCxnSpPr>
            <a:endCxn id="246" idx="1"/>
          </p:cNvCxnSpPr>
          <p:nvPr/>
        </p:nvCxnSpPr>
        <p:spPr>
          <a:xfrm flipH="1" rot="10800000">
            <a:off x="5573575" y="1929475"/>
            <a:ext cx="762900" cy="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248" name="Google Shape;248;p20"/>
          <p:cNvCxnSpPr>
            <a:endCxn id="246" idx="1"/>
          </p:cNvCxnSpPr>
          <p:nvPr/>
        </p:nvCxnSpPr>
        <p:spPr>
          <a:xfrm flipH="1" rot="10800000">
            <a:off x="5544475" y="1929475"/>
            <a:ext cx="792000" cy="51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med" w="med" type="triangle"/>
          </a:ln>
        </p:spPr>
      </p:cxnSp>
      <p:pic>
        <p:nvPicPr>
          <p:cNvPr id="249" name="Google Shape;24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2238" y="3756575"/>
            <a:ext cx="421957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HMM Tagger: Exemplo</a:t>
            </a:r>
            <a:endParaRPr/>
          </a:p>
        </p:txBody>
      </p:sp>
      <p:pic>
        <p:nvPicPr>
          <p:cNvPr id="255" name="Google Shape;2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4350" y="1017725"/>
            <a:ext cx="625530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HMM Decoding</a:t>
            </a:r>
            <a:endParaRPr/>
          </a:p>
        </p:txBody>
      </p:sp>
      <p:sp>
        <p:nvSpPr>
          <p:cNvPr id="261" name="Google Shape;261;p22"/>
          <p:cNvSpPr txBox="1"/>
          <p:nvPr>
            <p:ph idx="1" type="body"/>
          </p:nvPr>
        </p:nvSpPr>
        <p:spPr>
          <a:xfrm>
            <a:off x="311700" y="1152475"/>
            <a:ext cx="8520600" cy="2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Dadas as </a:t>
            </a:r>
            <a:r>
              <a:rPr b="1" lang="en"/>
              <a:t>matrizes A e B</a:t>
            </a:r>
            <a:r>
              <a:rPr lang="en"/>
              <a:t> como entrada, assim como a </a:t>
            </a:r>
            <a:r>
              <a:rPr b="1" lang="en"/>
              <a:t>sequência de palavras</a:t>
            </a:r>
            <a:r>
              <a:rPr lang="en"/>
              <a:t> (observações), o objetivo é </a:t>
            </a:r>
            <a:r>
              <a:rPr lang="en" u="sng"/>
              <a:t>encontrar a sequência de tags mais prováveis</a:t>
            </a:r>
            <a:r>
              <a:rPr lang="en"/>
              <a:t>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Teorema de Bayes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Suposições: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 probabilidade de uma palavra aparecer na sequência é independente da vizinhança e depende somente da sua tag;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 probabilidade de uma tag depende somente da tag anterior</a:t>
            </a:r>
            <a:endParaRPr/>
          </a:p>
        </p:txBody>
      </p:sp>
      <p:pic>
        <p:nvPicPr>
          <p:cNvPr id="262" name="Google Shape;2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5888" y="3355550"/>
            <a:ext cx="637222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7509925" y="4384250"/>
            <a:ext cx="72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Matriz A</a:t>
            </a:r>
            <a:endParaRPr b="1" i="0" sz="1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6166200" y="4624650"/>
            <a:ext cx="72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Matriz B</a:t>
            </a:r>
            <a:endParaRPr b="1" i="0" sz="1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22"/>
          <p:cNvCxnSpPr/>
          <p:nvPr/>
        </p:nvCxnSpPr>
        <p:spPr>
          <a:xfrm rot="10800000">
            <a:off x="6395100" y="4202250"/>
            <a:ext cx="132900" cy="42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" name="Google Shape;266;p22"/>
          <p:cNvCxnSpPr>
            <a:stCxn id="263" idx="0"/>
          </p:cNvCxnSpPr>
          <p:nvPr/>
        </p:nvCxnSpPr>
        <p:spPr>
          <a:xfrm rot="10800000">
            <a:off x="7509925" y="4163150"/>
            <a:ext cx="361800" cy="22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HMM: O Algoritmo Viterbi</a:t>
            </a:r>
            <a:endParaRPr/>
          </a:p>
        </p:txBody>
      </p:sp>
      <p:pic>
        <p:nvPicPr>
          <p:cNvPr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925" y="2473475"/>
            <a:ext cx="3950659" cy="156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473478"/>
            <a:ext cx="4342525" cy="156813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1969200" y="1920875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Matriz A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6218800" y="1975475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Matriz B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414250" y="4315025"/>
            <a:ext cx="87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Valores computados do corpus Wall Street Journal (WSJ)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311700" y="1190950"/>
            <a:ext cx="8520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Entrada: </a:t>
            </a:r>
            <a:r>
              <a:rPr b="0" i="0" lang="en" sz="23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Janet will back the bill</a:t>
            </a:r>
            <a:endParaRPr b="0" i="0" sz="2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 txBox="1"/>
          <p:nvPr>
            <p:ph type="title"/>
          </p:nvPr>
        </p:nvSpPr>
        <p:spPr>
          <a:xfrm>
            <a:off x="311700" y="445025"/>
            <a:ext cx="19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HMM: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 Algoritmo Viterbi</a:t>
            </a:r>
            <a:endParaRPr/>
          </a:p>
        </p:txBody>
      </p:sp>
      <p:pic>
        <p:nvPicPr>
          <p:cNvPr id="283" name="Google Shape;2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610" y="215850"/>
            <a:ext cx="6097141" cy="471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888625" y="3784275"/>
            <a:ext cx="1271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Distribuição de probabilidade inicial. Na Matriz A é dado por </a:t>
            </a:r>
            <a:r>
              <a:rPr b="0" i="1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&lt;s&gt;</a:t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24"/>
          <p:cNvCxnSpPr>
            <a:stCxn id="284" idx="3"/>
          </p:cNvCxnSpPr>
          <p:nvPr/>
        </p:nvCxnSpPr>
        <p:spPr>
          <a:xfrm>
            <a:off x="2159725" y="4184475"/>
            <a:ext cx="813000" cy="2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HMM: O Algoritmo Viterbi</a:t>
            </a:r>
            <a:endParaRPr/>
          </a:p>
        </p:txBody>
      </p:sp>
      <p:pic>
        <p:nvPicPr>
          <p:cNvPr id="291" name="Google Shape;2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2788" y="1170125"/>
            <a:ext cx="5178427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4928350" y="315725"/>
            <a:ext cx="379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valor de cada célula é computado recursivamente obtendo o caminho mais provável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HMM</a:t>
            </a:r>
            <a:endParaRPr/>
          </a:p>
        </p:txBody>
      </p:sp>
      <p:sp>
        <p:nvSpPr>
          <p:cNvPr id="298" name="Google Shape;29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É um modelo generativo: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modela como os dados foram gerados e depois aplica o que foi aprendido para classificar cada item da sequência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Modela a distribuição de probabilidade conjunta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Modelo útil e poderoso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Problemas: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Precisa de muitos dados para alcançar boa acurácia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Dificuldade nas tarefas NLP: a existência de palavras desconhecidas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Nomes próprios ou acrônimos por exemplo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Limitação das features: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Não diferencia maiúsculas ou minúsculas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Não considera o contexto anterior da palavra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Recurrent Neural Networks (RNN)</a:t>
            </a:r>
            <a:endParaRPr/>
          </a:p>
        </p:txBody>
      </p:sp>
      <p:pic>
        <p:nvPicPr>
          <p:cNvPr id="304" name="Google Shape;3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9938" y="1017725"/>
            <a:ext cx="6124133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Extração de Relações</a:t>
            </a:r>
            <a:endParaRPr/>
          </a:p>
        </p:txBody>
      </p:sp>
      <p:sp>
        <p:nvSpPr>
          <p:cNvPr id="310" name="Google Shape;310;p28"/>
          <p:cNvSpPr txBox="1"/>
          <p:nvPr>
            <p:ph idx="1" type="body"/>
          </p:nvPr>
        </p:nvSpPr>
        <p:spPr>
          <a:xfrm>
            <a:off x="910800" y="1017725"/>
            <a:ext cx="7322400" cy="18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</a:rPr>
              <a:t>Citing high fuel prices, </a:t>
            </a:r>
            <a:r>
              <a:rPr lang="en" sz="1500">
                <a:solidFill>
                  <a:srgbClr val="0000FF"/>
                </a:solidFill>
              </a:rPr>
              <a:t>[</a:t>
            </a:r>
            <a:r>
              <a:rPr baseline="-25000" lang="en" sz="1500">
                <a:solidFill>
                  <a:srgbClr val="0000FF"/>
                </a:solidFill>
              </a:rPr>
              <a:t>ORG</a:t>
            </a:r>
            <a:r>
              <a:rPr lang="en" sz="1500">
                <a:solidFill>
                  <a:srgbClr val="0000FF"/>
                </a:solidFill>
              </a:rPr>
              <a:t> United Airlines]</a:t>
            </a:r>
            <a:r>
              <a:rPr lang="en" sz="1500">
                <a:solidFill>
                  <a:schemeClr val="dk1"/>
                </a:solidFill>
              </a:rPr>
              <a:t> said </a:t>
            </a:r>
            <a:r>
              <a:rPr lang="en" sz="1500">
                <a:solidFill>
                  <a:srgbClr val="0000FF"/>
                </a:solidFill>
              </a:rPr>
              <a:t>[</a:t>
            </a:r>
            <a:r>
              <a:rPr baseline="-25000" lang="en" sz="1500">
                <a:solidFill>
                  <a:srgbClr val="0000FF"/>
                </a:solidFill>
              </a:rPr>
              <a:t>TIME</a:t>
            </a:r>
            <a:r>
              <a:rPr lang="en" sz="1500">
                <a:solidFill>
                  <a:srgbClr val="0000FF"/>
                </a:solidFill>
              </a:rPr>
              <a:t> Friday]</a:t>
            </a:r>
            <a:r>
              <a:rPr lang="en" sz="1500">
                <a:solidFill>
                  <a:schemeClr val="dk1"/>
                </a:solidFill>
              </a:rPr>
              <a:t> it has increased fares by </a:t>
            </a:r>
            <a:r>
              <a:rPr lang="en" sz="1500">
                <a:solidFill>
                  <a:srgbClr val="0000FF"/>
                </a:solidFill>
              </a:rPr>
              <a:t>[</a:t>
            </a:r>
            <a:r>
              <a:rPr baseline="-25000" lang="en" sz="1500">
                <a:solidFill>
                  <a:srgbClr val="0000FF"/>
                </a:solidFill>
              </a:rPr>
              <a:t>MONEY</a:t>
            </a:r>
            <a:r>
              <a:rPr lang="en" sz="1500">
                <a:solidFill>
                  <a:srgbClr val="0000FF"/>
                </a:solidFill>
              </a:rPr>
              <a:t> $6]</a:t>
            </a:r>
            <a:r>
              <a:rPr lang="en" sz="1500">
                <a:solidFill>
                  <a:schemeClr val="dk1"/>
                </a:solidFill>
              </a:rPr>
              <a:t> per round trip on flights to some cities also served by lower-cost carriers. 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[</a:t>
            </a:r>
            <a:r>
              <a:rPr baseline="-25000" lang="en" sz="1500">
                <a:solidFill>
                  <a:srgbClr val="0000FF"/>
                </a:solidFill>
                <a:highlight>
                  <a:srgbClr val="FFFF00"/>
                </a:highlight>
              </a:rPr>
              <a:t>ORG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 American Airlines]</a:t>
            </a:r>
            <a:r>
              <a:rPr lang="en" sz="1500">
                <a:solidFill>
                  <a:schemeClr val="dk1"/>
                </a:solidFill>
                <a:highlight>
                  <a:srgbClr val="FFFF00"/>
                </a:highlight>
              </a:rPr>
              <a:t>, a unit of 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[</a:t>
            </a:r>
            <a:r>
              <a:rPr baseline="-25000" lang="en" sz="1500">
                <a:solidFill>
                  <a:srgbClr val="0000FF"/>
                </a:solidFill>
                <a:highlight>
                  <a:srgbClr val="FFFF00"/>
                </a:highlight>
              </a:rPr>
              <a:t>ORG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 AMR Corp.]</a:t>
            </a:r>
            <a:r>
              <a:rPr lang="en" sz="1500">
                <a:solidFill>
                  <a:schemeClr val="dk1"/>
                </a:solidFill>
              </a:rPr>
              <a:t>, immediately matched the move, </a:t>
            </a:r>
            <a:r>
              <a:rPr lang="en" sz="1500">
                <a:solidFill>
                  <a:schemeClr val="dk1"/>
                </a:solidFill>
                <a:highlight>
                  <a:srgbClr val="FFFF00"/>
                </a:highlight>
              </a:rPr>
              <a:t>spokesman 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[</a:t>
            </a:r>
            <a:r>
              <a:rPr baseline="-25000" lang="en" sz="1500">
                <a:solidFill>
                  <a:srgbClr val="0000FF"/>
                </a:solidFill>
                <a:highlight>
                  <a:srgbClr val="FFFF00"/>
                </a:highlight>
              </a:rPr>
              <a:t>PER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 Tim Wagner]</a:t>
            </a:r>
            <a:r>
              <a:rPr lang="en" sz="1500">
                <a:solidFill>
                  <a:schemeClr val="dk1"/>
                </a:solidFill>
              </a:rPr>
              <a:t> said. 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[</a:t>
            </a:r>
            <a:r>
              <a:rPr baseline="-25000" lang="en" sz="1500">
                <a:solidFill>
                  <a:srgbClr val="0000FF"/>
                </a:solidFill>
                <a:highlight>
                  <a:srgbClr val="FFFF00"/>
                </a:highlight>
              </a:rPr>
              <a:t>ORG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 United]</a:t>
            </a:r>
            <a:r>
              <a:rPr lang="en" sz="1500">
                <a:solidFill>
                  <a:schemeClr val="dk1"/>
                </a:solidFill>
                <a:highlight>
                  <a:srgbClr val="FFFF00"/>
                </a:highlight>
              </a:rPr>
              <a:t>, a unit of 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[</a:t>
            </a:r>
            <a:r>
              <a:rPr baseline="-25000" lang="en" sz="1500">
                <a:solidFill>
                  <a:srgbClr val="0000FF"/>
                </a:solidFill>
                <a:highlight>
                  <a:srgbClr val="FFFF00"/>
                </a:highlight>
              </a:rPr>
              <a:t>ORG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 UAL Corp.]</a:t>
            </a:r>
            <a:r>
              <a:rPr lang="en" sz="1500">
                <a:solidFill>
                  <a:schemeClr val="dk1"/>
                </a:solidFill>
              </a:rPr>
              <a:t>, said the increase took effect </a:t>
            </a:r>
            <a:r>
              <a:rPr lang="en" sz="1500">
                <a:solidFill>
                  <a:srgbClr val="0000FF"/>
                </a:solidFill>
              </a:rPr>
              <a:t>[</a:t>
            </a:r>
            <a:r>
              <a:rPr baseline="-25000" lang="en" sz="1500">
                <a:solidFill>
                  <a:srgbClr val="0000FF"/>
                </a:solidFill>
              </a:rPr>
              <a:t>TIME</a:t>
            </a:r>
            <a:r>
              <a:rPr lang="en" sz="1500">
                <a:solidFill>
                  <a:srgbClr val="0000FF"/>
                </a:solidFill>
              </a:rPr>
              <a:t> Thursday</a:t>
            </a:r>
            <a:r>
              <a:rPr lang="en" sz="1500">
                <a:solidFill>
                  <a:schemeClr val="dk1"/>
                </a:solidFill>
              </a:rPr>
              <a:t>] and applies to most routes where it competes against discount carriers, </a:t>
            </a:r>
            <a:r>
              <a:rPr lang="en" sz="1500">
                <a:solidFill>
                  <a:schemeClr val="dk1"/>
                </a:solidFill>
                <a:highlight>
                  <a:srgbClr val="FFFF00"/>
                </a:highlight>
              </a:rPr>
              <a:t>such as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 [</a:t>
            </a:r>
            <a:r>
              <a:rPr baseline="-25000" lang="en" sz="1500">
                <a:solidFill>
                  <a:srgbClr val="0000FF"/>
                </a:solidFill>
                <a:highlight>
                  <a:srgbClr val="FFFF00"/>
                </a:highlight>
              </a:rPr>
              <a:t>LOC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 Chicago]</a:t>
            </a:r>
            <a:r>
              <a:rPr lang="en" sz="1500">
                <a:solidFill>
                  <a:schemeClr val="dk1"/>
                </a:solidFill>
                <a:highlight>
                  <a:srgbClr val="FFFF00"/>
                </a:highlight>
              </a:rPr>
              <a:t> to 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[</a:t>
            </a:r>
            <a:r>
              <a:rPr baseline="-25000" lang="en" sz="1500">
                <a:solidFill>
                  <a:srgbClr val="0000FF"/>
                </a:solidFill>
                <a:highlight>
                  <a:srgbClr val="FFFF00"/>
                </a:highlight>
              </a:rPr>
              <a:t>LOC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 Dallas]</a:t>
            </a:r>
            <a:r>
              <a:rPr lang="en" sz="1500">
                <a:solidFill>
                  <a:schemeClr val="dk1"/>
                </a:solidFill>
                <a:highlight>
                  <a:srgbClr val="FFFF00"/>
                </a:highlight>
              </a:rPr>
              <a:t> and 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[</a:t>
            </a:r>
            <a:r>
              <a:rPr baseline="-25000" lang="en" sz="1500">
                <a:solidFill>
                  <a:srgbClr val="0000FF"/>
                </a:solidFill>
                <a:highlight>
                  <a:srgbClr val="FFFF00"/>
                </a:highlight>
              </a:rPr>
              <a:t>LOC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 Denver]</a:t>
            </a:r>
            <a:r>
              <a:rPr lang="en" sz="1500">
                <a:solidFill>
                  <a:schemeClr val="dk1"/>
                </a:solidFill>
                <a:highlight>
                  <a:srgbClr val="FFFF00"/>
                </a:highlight>
              </a:rPr>
              <a:t> to 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[</a:t>
            </a:r>
            <a:r>
              <a:rPr baseline="-25000" lang="en" sz="1500">
                <a:solidFill>
                  <a:srgbClr val="0000FF"/>
                </a:solidFill>
                <a:highlight>
                  <a:srgbClr val="FFFF00"/>
                </a:highlight>
              </a:rPr>
              <a:t>LOC</a:t>
            </a:r>
            <a:r>
              <a:rPr lang="en" sz="1500">
                <a:solidFill>
                  <a:srgbClr val="0000FF"/>
                </a:solidFill>
                <a:highlight>
                  <a:srgbClr val="FFFF00"/>
                </a:highlight>
              </a:rPr>
              <a:t> San Francisco]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311" name="Google Shape;31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825" y="3613750"/>
            <a:ext cx="7322350" cy="10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Extração de Relações</a:t>
            </a:r>
            <a:endParaRPr/>
          </a:p>
        </p:txBody>
      </p:sp>
      <p:pic>
        <p:nvPicPr>
          <p:cNvPr id="317" name="Google Shape;3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125" y="1681163"/>
            <a:ext cx="7705725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Extração de Relações Baseada em Padrões</a:t>
            </a:r>
            <a:endParaRPr/>
          </a:p>
        </p:txBody>
      </p:sp>
      <p:sp>
        <p:nvSpPr>
          <p:cNvPr id="323" name="Google Shape;323;p30"/>
          <p:cNvSpPr txBox="1"/>
          <p:nvPr>
            <p:ph idx="1" type="body"/>
          </p:nvPr>
        </p:nvSpPr>
        <p:spPr>
          <a:xfrm>
            <a:off x="311700" y="1152475"/>
            <a:ext cx="38931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Padrões léxicos-sintáticos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Hearst Patterns para extração de hipônimos</a:t>
            </a:r>
            <a:endParaRPr/>
          </a:p>
        </p:txBody>
      </p:sp>
      <p:pic>
        <p:nvPicPr>
          <p:cNvPr id="324" name="Google Shape;32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3363" y="1152475"/>
            <a:ext cx="3955775" cy="1621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 txBox="1"/>
          <p:nvPr/>
        </p:nvSpPr>
        <p:spPr>
          <a:xfrm>
            <a:off x="752450" y="3628225"/>
            <a:ext cx="336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“Agar is a substance prepared from a mixture of </a:t>
            </a:r>
            <a:r>
              <a:rPr b="0" i="1" lang="en" sz="14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 algae</a:t>
            </a:r>
            <a:r>
              <a:rPr b="0" i="1" lang="en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such as </a:t>
            </a:r>
            <a:r>
              <a:rPr b="0" i="1" lang="en" sz="14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Gelidium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for laboratory or industrial use.”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4987050" y="376963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∀NP</a:t>
            </a:r>
            <a:r>
              <a:rPr b="0" baseline="-25000" i="1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</a:t>
            </a:r>
            <a:r>
              <a:rPr b="0" i="1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hyponym(</a:t>
            </a:r>
            <a:r>
              <a:rPr b="0" i="1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</a:t>
            </a:r>
            <a:r>
              <a:rPr b="0" baseline="-25000" i="1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</a:t>
            </a:r>
            <a:r>
              <a:rPr b="0" baseline="-25000" i="1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30"/>
          <p:cNvSpPr txBox="1"/>
          <p:nvPr/>
        </p:nvSpPr>
        <p:spPr>
          <a:xfrm>
            <a:off x="4987050" y="44590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hyponym(Gelidium, red algae)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0"/>
          <p:cNvSpPr txBox="1"/>
          <p:nvPr/>
        </p:nvSpPr>
        <p:spPr>
          <a:xfrm>
            <a:off x="4267350" y="3080275"/>
            <a:ext cx="443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</a:t>
            </a:r>
            <a:r>
              <a:rPr b="0" baseline="-25000" i="1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1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as NP</a:t>
            </a:r>
            <a:r>
              <a:rPr b="0" baseline="-25000" i="1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{, NP</a:t>
            </a:r>
            <a:r>
              <a:rPr b="0" baseline="-25000" i="1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b="0" i="1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. . , (and|or)NP</a:t>
            </a:r>
            <a:r>
              <a:rPr b="0" baseline="-25000" i="1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1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 i ≥ 1</a:t>
            </a:r>
            <a:endParaRPr b="0" i="1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9" name="Google Shape;329;p30"/>
          <p:cNvCxnSpPr>
            <a:stCxn id="328" idx="2"/>
            <a:endCxn id="326" idx="0"/>
          </p:cNvCxnSpPr>
          <p:nvPr/>
        </p:nvCxnSpPr>
        <p:spPr>
          <a:xfrm>
            <a:off x="6487050" y="3511375"/>
            <a:ext cx="0" cy="2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" name="Google Shape;330;p30"/>
          <p:cNvCxnSpPr>
            <a:stCxn id="326" idx="2"/>
            <a:endCxn id="327" idx="0"/>
          </p:cNvCxnSpPr>
          <p:nvPr/>
        </p:nvCxnSpPr>
        <p:spPr>
          <a:xfrm>
            <a:off x="6487050" y="4200738"/>
            <a:ext cx="0" cy="2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30"/>
          <p:cNvSpPr/>
          <p:nvPr/>
        </p:nvSpPr>
        <p:spPr>
          <a:xfrm>
            <a:off x="604475" y="2268625"/>
            <a:ext cx="3363600" cy="1204200"/>
          </a:xfrm>
          <a:prstGeom prst="wedgeEllipseCallout">
            <a:avLst>
              <a:gd fmla="val -18120" name="adj1"/>
              <a:gd fmla="val -56722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palavras de sentido específico, ou seja, palavras cujos significados são hierarquicamente mais específicos do que de outras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4116050" y="3197575"/>
            <a:ext cx="323400" cy="1692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 txBox="1"/>
          <p:nvPr>
            <p:ph type="title"/>
          </p:nvPr>
        </p:nvSpPr>
        <p:spPr>
          <a:xfrm>
            <a:off x="311700" y="323050"/>
            <a:ext cx="81915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Extração de Relações Baseada em Padrões</a:t>
            </a:r>
            <a:endParaRPr/>
          </a:p>
        </p:txBody>
      </p:sp>
      <p:pic>
        <p:nvPicPr>
          <p:cNvPr id="338" name="Google Shape;33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568750"/>
            <a:ext cx="81915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1"/>
          <p:cNvSpPr txBox="1"/>
          <p:nvPr>
            <p:ph idx="1" type="body"/>
          </p:nvPr>
        </p:nvSpPr>
        <p:spPr>
          <a:xfrm>
            <a:off x="311700" y="1006500"/>
            <a:ext cx="81915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350"/>
              <a:t>Hiperônimos</a:t>
            </a:r>
            <a:r>
              <a:rPr lang="en" sz="1350"/>
              <a:t> são palavras de sentido genérico, ou seja, palavras cujos significados são mais abrangentes do que os hipônimos: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50"/>
          </a:p>
          <a:p>
            <a:pPr indent="0" lvl="0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i="1" lang="en" sz="1350"/>
              <a:t>Animais é hiperônimo de cachorro e cavalo.</a:t>
            </a:r>
            <a:endParaRPr i="1" sz="1350"/>
          </a:p>
          <a:p>
            <a:pPr indent="0" lvl="0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i="1" lang="en" sz="1350"/>
              <a:t>Legume é hiperônimo de batata e cenoura.</a:t>
            </a:r>
            <a:endParaRPr i="1" sz="1350"/>
          </a:p>
          <a:p>
            <a:pPr indent="0" lvl="0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i="1" lang="en" sz="1350"/>
              <a:t>Galáxia é hiperônimo de estrelas e planetas.</a:t>
            </a:r>
            <a:endParaRPr i="1" sz="135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Extração de Relação Baseada em ML</a:t>
            </a:r>
            <a:endParaRPr/>
          </a:p>
        </p:txBody>
      </p:sp>
      <p:sp>
        <p:nvSpPr>
          <p:cNvPr id="345" name="Google Shape;345;p32"/>
          <p:cNvSpPr txBox="1"/>
          <p:nvPr>
            <p:ph idx="1" type="body"/>
          </p:nvPr>
        </p:nvSpPr>
        <p:spPr>
          <a:xfrm>
            <a:off x="311700" y="1152475"/>
            <a:ext cx="8520600" cy="30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" sz="2200"/>
              <a:t>Definem-se as relações e entidades a serem extraídas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" sz="2200"/>
              <a:t>Anotam-se exemplos para treinamento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" sz="2200"/>
              <a:t>Detecção de entidades seguida da identificação de relações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" sz="2200"/>
              <a:t>Features:</a:t>
            </a:r>
            <a:endParaRPr sz="22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BOW e bigramas nas entidades</a:t>
            </a:r>
            <a:endParaRPr sz="1800"/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American, Airlines, Tim, Wagner, American Airlines, Tim Wagner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Palavras ou bigramas ao redor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Tipos das entidades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Número de entidades entre as entidades candidatas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Part-of-speech</a:t>
            </a:r>
            <a:endParaRPr sz="1800"/>
          </a:p>
        </p:txBody>
      </p:sp>
      <p:pic>
        <p:nvPicPr>
          <p:cNvPr id="346" name="Google Shape;34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420" y="4124700"/>
            <a:ext cx="7379167" cy="93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Extração de Relação Baseada em Redes Neurais</a:t>
            </a:r>
            <a:endParaRPr/>
          </a:p>
        </p:txBody>
      </p:sp>
      <p:pic>
        <p:nvPicPr>
          <p:cNvPr id="352" name="Google Shape;35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485900"/>
            <a:ext cx="548640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