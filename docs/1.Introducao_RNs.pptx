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Play"/>
      <p:regular r:id="rId47"/>
      <p:bold r:id="rId48"/>
    </p:embeddedFont>
    <p:embeddedFont>
      <p:font typeface="Roboto"/>
      <p:regular r:id="rId49"/>
      <p:bold r:id="rId50"/>
      <p:italic r:id="rId51"/>
      <p:boldItalic r:id="rId52"/>
    </p:embeddedFont>
    <p:embeddedFont>
      <p:font typeface="Montserrat"/>
      <p:regular r:id="rId53"/>
      <p:bold r:id="rId54"/>
      <p:italic r:id="rId55"/>
      <p:boldItalic r:id="rId56"/>
    </p:embeddedFont>
    <p:embeddedFont>
      <p:font typeface="Lato Light"/>
      <p:regular r:id="rId57"/>
      <p:bold r:id="rId58"/>
      <p:italic r:id="rId59"/>
      <p:boldItalic r:id="rId60"/>
    </p:embeddedFont>
    <p:embeddedFont>
      <p:font typeface="Open Sans ExtraBold"/>
      <p:bold r:id="rId61"/>
      <p:boldItalic r:id="rId62"/>
    </p:embeddedFont>
    <p:embeddedFont>
      <p:font typeface="Helvetica Neue"/>
      <p:regular r:id="rId63"/>
      <p:bold r:id="rId64"/>
      <p:italic r:id="rId65"/>
      <p:boldItalic r:id="rId66"/>
    </p:embeddedFont>
    <p:embeddedFont>
      <p:font typeface="DM Sans"/>
      <p:regular r:id="rId67"/>
      <p:bold r:id="rId68"/>
      <p:italic r:id="rId69"/>
      <p:boldItalic r:id="rId70"/>
    </p:embeddedFont>
    <p:embeddedFont>
      <p:font typeface="Open Sans Light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ay-bold.fntdata"/><Relationship Id="rId47" Type="http://schemas.openxmlformats.org/officeDocument/2006/relationships/font" Target="fonts/Play-regular.fntdata"/><Relationship Id="rId4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OpenSansLight-italic.fntdata"/><Relationship Id="rId72" Type="http://schemas.openxmlformats.org/officeDocument/2006/relationships/font" Target="fonts/OpenSansLight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OpenSansLight-boldItalic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OpenSansLight-regular.fntdata"/><Relationship Id="rId70" Type="http://schemas.openxmlformats.org/officeDocument/2006/relationships/font" Target="fonts/DMSans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ExtraBold-boldItalic.fntdata"/><Relationship Id="rId61" Type="http://schemas.openxmlformats.org/officeDocument/2006/relationships/font" Target="fonts/OpenSansExtraBold-bold.fntdata"/><Relationship Id="rId20" Type="http://schemas.openxmlformats.org/officeDocument/2006/relationships/slide" Target="slides/slide15.xml"/><Relationship Id="rId64" Type="http://schemas.openxmlformats.org/officeDocument/2006/relationships/font" Target="fonts/HelveticaNeue-bold.fntdata"/><Relationship Id="rId63" Type="http://schemas.openxmlformats.org/officeDocument/2006/relationships/font" Target="fonts/HelveticaNeue-regular.fntdata"/><Relationship Id="rId22" Type="http://schemas.openxmlformats.org/officeDocument/2006/relationships/slide" Target="slides/slide17.xml"/><Relationship Id="rId66" Type="http://schemas.openxmlformats.org/officeDocument/2006/relationships/font" Target="fonts/HelveticaNeue-boldItalic.fntdata"/><Relationship Id="rId21" Type="http://schemas.openxmlformats.org/officeDocument/2006/relationships/slide" Target="slides/slide16.xml"/><Relationship Id="rId65" Type="http://schemas.openxmlformats.org/officeDocument/2006/relationships/font" Target="fonts/HelveticaNeue-italic.fntdata"/><Relationship Id="rId24" Type="http://schemas.openxmlformats.org/officeDocument/2006/relationships/slide" Target="slides/slide19.xml"/><Relationship Id="rId68" Type="http://schemas.openxmlformats.org/officeDocument/2006/relationships/font" Target="fonts/DMSans-bold.fntdata"/><Relationship Id="rId23" Type="http://schemas.openxmlformats.org/officeDocument/2006/relationships/slide" Target="slides/slide18.xml"/><Relationship Id="rId67" Type="http://schemas.openxmlformats.org/officeDocument/2006/relationships/font" Target="fonts/DMSans-regular.fntdata"/><Relationship Id="rId60" Type="http://schemas.openxmlformats.org/officeDocument/2006/relationships/font" Target="fonts/LatoLight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DMSans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Montserrat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6.xml"/><Relationship Id="rId55" Type="http://schemas.openxmlformats.org/officeDocument/2006/relationships/font" Target="fonts/Montserrat-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-bold.fntdata"/><Relationship Id="rId13" Type="http://schemas.openxmlformats.org/officeDocument/2006/relationships/slide" Target="slides/slide8.xml"/><Relationship Id="rId57" Type="http://schemas.openxmlformats.org/officeDocument/2006/relationships/font" Target="fonts/LatoLight-regular.fntdata"/><Relationship Id="rId12" Type="http://schemas.openxmlformats.org/officeDocument/2006/relationships/slide" Target="slides/slide7.xml"/><Relationship Id="rId56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59" Type="http://schemas.openxmlformats.org/officeDocument/2006/relationships/font" Target="fonts/LatoLight-italic.fntdata"/><Relationship Id="rId14" Type="http://schemas.openxmlformats.org/officeDocument/2006/relationships/slide" Target="slides/slide9.xml"/><Relationship Id="rId58" Type="http://schemas.openxmlformats.org/officeDocument/2006/relationships/font" Target="fonts/LatoLigh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808fd963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g2f808fd963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a9117a1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1a9117a1d9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a9117a1d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1a9117a1d9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a9117a1d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1a9117a1d9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a9117a1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1a9117a1d9_0_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a9117a1d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1a9117a1d9_0_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a9117a1d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1a9117a1d9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a9117a1d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1a9117a1d9_0_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a9117a1d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1a9117a1d9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a9117a1d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1a9117a1d9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a9117a1d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1a9117a1d9_0_9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a9117a1d9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1a9117a1d9_0_10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a9117a1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1a9117a1d9_0_1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a9117a1d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1a9117a1d9_0_11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a9117a1d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1a9117a1d9_0_12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a9117a1d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1a9117a1d9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1a9117a1d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1a9117a1d9_0_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a9117a1d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1a9117a1d9_0_1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a9117a1d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1a9117a1d9_0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1a9117a1d9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1a9117a1d9_0_1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a9117a1d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1a9117a1d9_0_1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a9117a1d9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1a9117a1d9_0_19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1a9117a1d9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1a9117a1d9_0_20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a9117a1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1a9117a1d9_0_2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1a9117a1d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1a9117a1d9_0_22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a9117a1d9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1a9117a1d9_0_23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1a9117a1d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1a9117a1d9_0_2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1a9117a1d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1a9117a1d9_0_2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1a9117a1d9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1a9117a1d9_0_2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a9117a1d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1a9117a1d9_0_2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1a9117a1d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1a9117a1d9_0_2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a9117a1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1a9117a1d9_0_27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1a9117a1d9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1a9117a1d9_0_28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1a9117a1d9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1a9117a1d9_0_29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a9117a1d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1a9117a1d9_0_3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a9117a1d9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1a9117a1d9_0_3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1a9117a1d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1a9117a1d9_0_3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1a9117a1d9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1a9117a1d9_0_32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1a9117a1d9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1a9117a1d9_0_3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1a9117a1d9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1a9117a1d9_0_3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1a9117a1d9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1a9117a1d9_0_3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 1">
  <p:cSld name="TITLE_1_1_1_2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FF3E03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/>
          <p:nvPr>
            <p:ph type="ctrTitle"/>
          </p:nvPr>
        </p:nvSpPr>
        <p:spPr>
          <a:xfrm>
            <a:off x="1143000" y="841772"/>
            <a:ext cx="6858000" cy="22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Play"/>
              <a:buNone/>
              <a:defRPr b="0" i="1" sz="50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" type="subTitle"/>
          </p:nvPr>
        </p:nvSpPr>
        <p:spPr>
          <a:xfrm>
            <a:off x="1143000" y="3290047"/>
            <a:ext cx="68580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type="title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077"/>
              </a:buClr>
              <a:buSzPts val="1800"/>
              <a:buFont typeface="Montserrat"/>
              <a:buNone/>
              <a:defRPr b="1" i="0" sz="1800" u="none" cap="none" strike="noStrike">
                <a:solidFill>
                  <a:srgbClr val="00607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" type="body"/>
          </p:nvPr>
        </p:nvSpPr>
        <p:spPr>
          <a:xfrm>
            <a:off x="0" y="837506"/>
            <a:ext cx="91440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205725" spcFirstLastPara="1" rIns="342900" wrap="square" tIns="34275">
            <a:sp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•"/>
              <a:defRPr b="0" i="0" sz="12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675077" y="4938355"/>
            <a:ext cx="2652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3E03"/>
              </a:buClr>
              <a:buSzPts val="2400"/>
              <a:buNone/>
              <a:defRPr sz="2400" u="none" cap="none" strike="noStrike">
                <a:solidFill>
                  <a:srgbClr val="FF3E03"/>
                </a:solidFill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6600"/>
              </a:buClr>
              <a:buSzPts val="1400"/>
              <a:buChar char="•"/>
              <a:defRPr i="0" sz="1800" u="none" cap="none" strike="noStrike">
                <a:solidFill>
                  <a:schemeClr val="dk2"/>
                </a:solidFill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Char char="•"/>
              <a:defRPr i="0" sz="1500" u="none" cap="none" strike="noStrike">
                <a:solidFill>
                  <a:schemeClr val="dk2"/>
                </a:solidFill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i="0" sz="1400" u="none" cap="none" strike="noStrike">
                <a:solidFill>
                  <a:schemeClr val="dk2"/>
                </a:solidFill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i="0" sz="1200" u="none" cap="none" strike="noStrike">
                <a:solidFill>
                  <a:schemeClr val="dk2"/>
                </a:solidFill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i="0" sz="1200" u="none" cap="none" strike="noStrike">
                <a:solidFill>
                  <a:schemeClr val="dk2"/>
                </a:solidFill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i="0" sz="14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b="0" i="1" sz="3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1_1_1_2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ctrTitle"/>
          </p:nvPr>
        </p:nvSpPr>
        <p:spPr>
          <a:xfrm>
            <a:off x="5925025" y="319150"/>
            <a:ext cx="26190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1800" y="1147775"/>
            <a:ext cx="6401100" cy="3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1pPr>
            <a:lvl2pPr indent="-292100" lvl="1" marL="914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2pPr>
            <a:lvl3pPr indent="-292100" lvl="2" marL="1371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3pPr>
            <a:lvl4pPr indent="-292100" lvl="3" marL="18288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4pPr>
            <a:lvl5pPr indent="-292100" lvl="4" marL="22860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5pPr>
            <a:lvl6pPr indent="-292100" lvl="5" marL="2743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6pPr>
            <a:lvl7pPr indent="-292100" lvl="6" marL="32004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●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7pPr>
            <a:lvl8pPr indent="-292100" lvl="7" marL="36576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Lato Light"/>
              <a:buChar char="○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8pPr>
            <a:lvl9pPr indent="-292100" lvl="8" marL="4114800" marR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Lato Light"/>
              <a:buChar char="■"/>
              <a:defRPr b="0" i="0" sz="1000" u="none" cap="none" strike="noStrike">
                <a:solidFill>
                  <a:srgbClr val="000000"/>
                </a:solidFill>
                <a:latin typeface="Lato Light"/>
                <a:ea typeface="Lato Light"/>
                <a:cs typeface="Lato Light"/>
                <a:sym typeface="La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800"/>
              <a:buNone/>
              <a:defRPr sz="4800">
                <a:solidFill>
                  <a:srgbClr val="FF66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0" name="Google Shape;5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22840" y="219244"/>
            <a:ext cx="482665" cy="28959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2"/>
          <p:cNvSpPr/>
          <p:nvPr/>
        </p:nvSpPr>
        <p:spPr>
          <a:xfrm rot="10800000">
            <a:off x="7347585" y="3347093"/>
            <a:ext cx="1796406" cy="1796406"/>
          </a:xfrm>
          <a:custGeom>
            <a:rect b="b" l="l" r="r" t="t"/>
            <a:pathLst>
              <a:path extrusionOk="0" h="208763" w="208763">
                <a:moveTo>
                  <a:pt x="0" y="0"/>
                </a:moveTo>
                <a:lnTo>
                  <a:pt x="0" y="208763"/>
                </a:lnTo>
                <a:cubicBezTo>
                  <a:pt x="115295" y="208763"/>
                  <a:pt x="208763" y="115295"/>
                  <a:pt x="208763" y="0"/>
                </a:cubicBez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E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-45425" y="-27250"/>
            <a:ext cx="9189300" cy="51708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66328" y="1800300"/>
            <a:ext cx="63486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pt-BR" sz="3400">
                <a:solidFill>
                  <a:srgbClr val="F7F6E2"/>
                </a:solidFill>
                <a:latin typeface="DM Sans"/>
                <a:ea typeface="DM Sans"/>
                <a:cs typeface="DM Sans"/>
                <a:sym typeface="DM Sans"/>
              </a:rPr>
              <a:t>Introdução a Redes Neurais (Deep Learning)</a:t>
            </a:r>
            <a:endParaRPr b="1" i="0" sz="3400" u="none" cap="none" strike="noStrike">
              <a:solidFill>
                <a:srgbClr val="F7F6E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>
            <a:alphaModFix/>
          </a:blip>
          <a:srcRect b="28921" l="0" r="0" t="0"/>
          <a:stretch/>
        </p:blipFill>
        <p:spPr>
          <a:xfrm>
            <a:off x="466331" y="449997"/>
            <a:ext cx="1183898" cy="7516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rot="-5400000">
            <a:off x="7507635" y="216486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7054565" y="1885087"/>
            <a:ext cx="1812000" cy="1812000"/>
          </a:xfrm>
          <a:prstGeom prst="ellipse">
            <a:avLst/>
          </a:pr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10800025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3"/>
          <p:cNvSpPr/>
          <p:nvPr/>
        </p:nvSpPr>
        <p:spPr>
          <a:xfrm rot="5400000">
            <a:off x="5403061" y="87049"/>
            <a:ext cx="905796" cy="18117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cubicBezTo>
                  <a:pt x="11927" y="21600"/>
                  <a:pt x="21600" y="16764"/>
                  <a:pt x="21600" y="10800"/>
                </a:cubicBezTo>
                <a:cubicBezTo>
                  <a:pt x="21600" y="4836"/>
                  <a:pt x="11927" y="0"/>
                  <a:pt x="0" y="0"/>
                </a:cubicBez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FF6600"/>
              </a:gs>
              <a:gs pos="100000">
                <a:srgbClr val="FF3E03"/>
              </a:gs>
            </a:gsLst>
            <a:lin ang="5400012" scaled="0"/>
          </a:gra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What is Deep Learning?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Sub-area of Machine Learning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Not really something new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Handwriting recognition paper (1998)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345" y="2752456"/>
            <a:ext cx="5736167" cy="157289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1350425" y="4366650"/>
            <a:ext cx="403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http://yann.lecun.com/exdb/publis/pdf/lecun-01a.pdf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What is new?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New training strategies: able to train deep networks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Hinton et al. (2006) presented a new, stacked training method which applies the concept of pre-training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More data has been available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Computer infrastructure (hardware and software) has improved- &gt; bigger models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Supervised Learning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Goal: to infer a function from examples to predict classes on new examples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Example of classification tasks: sentiment analysis, image detection, text categorization etc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Two steps: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Training: learn the function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Test: apply the function on new examples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Supervised Learning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38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Char char="•"/>
            </a:pPr>
            <a:r>
              <a:rPr lang="pt-BR"/>
              <a:t>Training set: instances and labels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  <a:p>
            <a:pPr indent="-3238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Char char="•"/>
            </a:pPr>
            <a:r>
              <a:rPr lang="pt-BR"/>
              <a:t>Instance represented by its features’ vector: x</a:t>
            </a:r>
            <a:endParaRPr/>
          </a:p>
          <a:p>
            <a:pPr indent="-3238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Char char="•"/>
            </a:pPr>
            <a:r>
              <a:rPr lang="pt-BR"/>
              <a:t>Goal: to learn f(x)=y that better predicts y given x</a:t>
            </a:r>
            <a:endParaRPr/>
          </a:p>
          <a:p>
            <a:pPr indent="-3238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Char char="•"/>
            </a:pPr>
            <a:r>
              <a:rPr lang="pt-BR"/>
              <a:t>Label y</a:t>
            </a:r>
            <a:endParaRPr/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Char char="•"/>
            </a:pPr>
            <a:r>
              <a:rPr lang="pt-BR"/>
              <a:t>Categorical -&gt; classification</a:t>
            </a:r>
            <a:endParaRPr/>
          </a:p>
          <a:p>
            <a:pPr indent="-26670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Char char="•"/>
            </a:pPr>
            <a:r>
              <a:rPr lang="pt-BR"/>
              <a:t>Numerical -&gt; regression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3445" y="1833215"/>
            <a:ext cx="5264459" cy="10071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1642714" y="1833215"/>
            <a:ext cx="201000" cy="10071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381000" y="2187164"/>
            <a:ext cx="128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set</a:t>
            </a:r>
            <a:endParaRPr/>
          </a:p>
        </p:txBody>
      </p:sp>
      <p:cxnSp>
        <p:nvCxnSpPr>
          <p:cNvPr id="91" name="Google Shape;91;p17"/>
          <p:cNvCxnSpPr/>
          <p:nvPr/>
        </p:nvCxnSpPr>
        <p:spPr>
          <a:xfrm>
            <a:off x="6482893" y="1543853"/>
            <a:ext cx="0" cy="297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92" name="Google Shape;92;p17"/>
          <p:cNvSpPr txBox="1"/>
          <p:nvPr/>
        </p:nvSpPr>
        <p:spPr>
          <a:xfrm>
            <a:off x="5856572" y="1210517"/>
            <a:ext cx="123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Features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Very important for good classification results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Good feature: high correlation with the classification outcome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</a:t>
            </a:r>
            <a:r>
              <a:rPr baseline="-25000" lang="pt-BR"/>
              <a:t>1</a:t>
            </a:r>
            <a:r>
              <a:rPr lang="pt-BR"/>
              <a:t>: weather prediction: temperature, humidity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</a:t>
            </a:r>
            <a:r>
              <a:rPr baseline="-25000" lang="pt-BR"/>
              <a:t>2</a:t>
            </a:r>
            <a:r>
              <a:rPr lang="pt-BR"/>
              <a:t>: sentiment analysis: words with polarity (positive/negative)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Usually human-generated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The training task becomes optimizing weights of the features for prediction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049" y="3920203"/>
            <a:ext cx="5264459" cy="100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br>
              <a:rPr b="0" lang="pt-B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3200">
                <a:latin typeface="Arial"/>
                <a:ea typeface="Arial"/>
                <a:cs typeface="Arial"/>
                <a:sym typeface="Arial"/>
              </a:rPr>
              <a:t>Traditional ML vs. Deep Learning 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525" y="1482532"/>
            <a:ext cx="6858001" cy="123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25" y="3151853"/>
            <a:ext cx="6858001" cy="12441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Deep Learning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Automatically learns good features or representations (instead of feature engineering)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Multiple levels of representation from raw data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Usually needs large amounts of data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Not necessarily labeled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For small datasets: hand-designed features can still be included 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Basics: Artificial Neuron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908925" y="1204453"/>
            <a:ext cx="7429500" cy="3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667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Char char="▪"/>
            </a:pPr>
            <a:r>
              <a:rPr lang="pt-BR"/>
              <a:t>Given </a:t>
            </a:r>
            <a:r>
              <a:rPr b="1" lang="pt-BR"/>
              <a:t>inputs</a:t>
            </a:r>
            <a:r>
              <a:rPr lang="pt-BR"/>
              <a:t>:</a:t>
            </a:r>
            <a:br>
              <a:rPr lang="pt-BR"/>
            </a:br>
            <a:endParaRPr/>
          </a:p>
          <a:p>
            <a:pPr indent="-266700" lvl="0" marL="2857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Char char="▪"/>
            </a:pPr>
            <a:r>
              <a:rPr lang="pt-BR"/>
              <a:t>and </a:t>
            </a:r>
            <a:r>
              <a:rPr b="1" lang="pt-BR"/>
              <a:t>weights</a:t>
            </a:r>
            <a:r>
              <a:rPr lang="pt-BR"/>
              <a:t>:</a:t>
            </a:r>
            <a:br>
              <a:rPr lang="pt-BR"/>
            </a:br>
            <a:r>
              <a:rPr lang="pt-BR"/>
              <a:t>and a </a:t>
            </a:r>
            <a:r>
              <a:rPr b="1" lang="pt-BR"/>
              <a:t>bias</a:t>
            </a:r>
            <a:r>
              <a:rPr lang="pt-BR"/>
              <a:t> value:</a:t>
            </a:r>
            <a:endParaRPr/>
          </a:p>
          <a:p>
            <a:pPr indent="-158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None/>
            </a:pPr>
            <a:r>
              <a:t/>
            </a:r>
            <a:endParaRPr/>
          </a:p>
          <a:p>
            <a:pPr indent="-158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None/>
            </a:pPr>
            <a:r>
              <a:t/>
            </a:r>
            <a:endParaRPr/>
          </a:p>
          <a:p>
            <a:pPr indent="-26670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Char char="▪"/>
            </a:pPr>
            <a:r>
              <a:rPr lang="pt-BR"/>
              <a:t>A neuron produces a single output:</a:t>
            </a:r>
            <a:endParaRPr/>
          </a:p>
          <a:p>
            <a:pPr indent="-158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None/>
            </a:pPr>
            <a:r>
              <a:t/>
            </a:r>
            <a:endParaRPr/>
          </a:p>
          <a:p>
            <a:pPr indent="-158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None/>
            </a:pPr>
            <a:r>
              <a:t/>
            </a:r>
            <a:endParaRPr/>
          </a:p>
          <a:p>
            <a:pPr indent="-15875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None/>
            </a:pPr>
            <a:r>
              <a:t/>
            </a:r>
            <a:endParaRPr/>
          </a:p>
          <a:p>
            <a:pPr indent="-266700" lvl="0" marL="2857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Char char="▪"/>
            </a:pPr>
            <a:r>
              <a:rPr lang="pt-BR"/>
              <a:t>Function </a:t>
            </a:r>
            <a:r>
              <a:rPr i="1" lang="pt-BR"/>
              <a:t>s</a:t>
            </a:r>
            <a:r>
              <a:rPr lang="pt-BR"/>
              <a:t>:</a:t>
            </a:r>
            <a:r>
              <a:rPr i="1" lang="pt-BR"/>
              <a:t> </a:t>
            </a:r>
            <a:r>
              <a:rPr b="1" lang="pt-BR"/>
              <a:t>activation function</a:t>
            </a:r>
            <a:endParaRPr/>
          </a:p>
          <a:p>
            <a:pPr indent="-266700" lvl="0" marL="2857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Noto Sans Symbols"/>
              <a:buChar char="▪"/>
            </a:pPr>
            <a:r>
              <a:rPr lang="pt-BR"/>
              <a:t>The weights and bias values </a:t>
            </a:r>
            <a:endParaRPr/>
          </a:p>
          <a:p>
            <a:pPr indent="-266700" lvl="1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Char char="▪"/>
            </a:pPr>
            <a:r>
              <a:rPr lang="pt-BR"/>
              <a:t>Initialized randomly</a:t>
            </a:r>
            <a:endParaRPr/>
          </a:p>
          <a:p>
            <a:pPr indent="-266700" lvl="1" marL="6858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33333"/>
              <a:buFont typeface="Noto Sans Symbols"/>
              <a:buChar char="▪"/>
            </a:pPr>
            <a:r>
              <a:rPr lang="pt-BR"/>
              <a:t>Learned during training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7565" y="1221304"/>
            <a:ext cx="1559951" cy="19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9677" y="1634045"/>
            <a:ext cx="1559952" cy="184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736" y="1887346"/>
            <a:ext cx="393113" cy="12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6850" y="2916482"/>
            <a:ext cx="2173005" cy="277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5046814" y="994013"/>
            <a:ext cx="375300" cy="287700"/>
          </a:xfrm>
          <a:prstGeom prst="ellipse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5075680" y="968519"/>
            <a:ext cx="37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1"/>
          <p:cNvGrpSpPr/>
          <p:nvPr/>
        </p:nvGrpSpPr>
        <p:grpSpPr>
          <a:xfrm>
            <a:off x="5046814" y="1386433"/>
            <a:ext cx="404166" cy="310019"/>
            <a:chOff x="5844655" y="1336892"/>
            <a:chExt cx="404166" cy="413358"/>
          </a:xfrm>
        </p:grpSpPr>
        <p:sp>
          <p:nvSpPr>
            <p:cNvPr id="126" name="Google Shape;126;p21"/>
            <p:cNvSpPr/>
            <p:nvPr/>
          </p:nvSpPr>
          <p:spPr>
            <a:xfrm>
              <a:off x="5844655" y="1366550"/>
              <a:ext cx="375300" cy="383700"/>
            </a:xfrm>
            <a:prstGeom prst="ellipse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1"/>
            <p:cNvSpPr txBox="1"/>
            <p:nvPr/>
          </p:nvSpPr>
          <p:spPr>
            <a:xfrm>
              <a:off x="5873521" y="1336892"/>
              <a:ext cx="375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1" baseline="-25000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28" name="Google Shape;128;p21"/>
          <p:cNvGrpSpPr/>
          <p:nvPr/>
        </p:nvGrpSpPr>
        <p:grpSpPr>
          <a:xfrm>
            <a:off x="5061247" y="1770414"/>
            <a:ext cx="404166" cy="310019"/>
            <a:chOff x="5844655" y="1336892"/>
            <a:chExt cx="404166" cy="413358"/>
          </a:xfrm>
        </p:grpSpPr>
        <p:sp>
          <p:nvSpPr>
            <p:cNvPr id="129" name="Google Shape;129;p21"/>
            <p:cNvSpPr/>
            <p:nvPr/>
          </p:nvSpPr>
          <p:spPr>
            <a:xfrm>
              <a:off x="5844655" y="1366550"/>
              <a:ext cx="375300" cy="383700"/>
            </a:xfrm>
            <a:prstGeom prst="ellipse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1"/>
            <p:cNvSpPr txBox="1"/>
            <p:nvPr/>
          </p:nvSpPr>
          <p:spPr>
            <a:xfrm>
              <a:off x="5873521" y="1336892"/>
              <a:ext cx="375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1" baseline="-25000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21"/>
          <p:cNvGrpSpPr/>
          <p:nvPr/>
        </p:nvGrpSpPr>
        <p:grpSpPr>
          <a:xfrm>
            <a:off x="5061255" y="2558574"/>
            <a:ext cx="404166" cy="310018"/>
            <a:chOff x="5844655" y="1336892"/>
            <a:chExt cx="404166" cy="413358"/>
          </a:xfrm>
        </p:grpSpPr>
        <p:sp>
          <p:nvSpPr>
            <p:cNvPr id="132" name="Google Shape;132;p21"/>
            <p:cNvSpPr/>
            <p:nvPr/>
          </p:nvSpPr>
          <p:spPr>
            <a:xfrm>
              <a:off x="5844655" y="1366550"/>
              <a:ext cx="375300" cy="383700"/>
            </a:xfrm>
            <a:prstGeom prst="ellipse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5873521" y="1336892"/>
              <a:ext cx="375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b="1" baseline="-25000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21"/>
          <p:cNvSpPr txBox="1"/>
          <p:nvPr/>
        </p:nvSpPr>
        <p:spPr>
          <a:xfrm>
            <a:off x="5164658" y="2014913"/>
            <a:ext cx="223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grpSp>
        <p:nvGrpSpPr>
          <p:cNvPr id="135" name="Google Shape;135;p21"/>
          <p:cNvGrpSpPr/>
          <p:nvPr/>
        </p:nvGrpSpPr>
        <p:grpSpPr>
          <a:xfrm>
            <a:off x="6461117" y="1408601"/>
            <a:ext cx="672088" cy="505165"/>
            <a:chOff x="5844655" y="1336892"/>
            <a:chExt cx="404166" cy="413358"/>
          </a:xfrm>
        </p:grpSpPr>
        <p:sp>
          <p:nvSpPr>
            <p:cNvPr id="136" name="Google Shape;136;p21"/>
            <p:cNvSpPr/>
            <p:nvPr/>
          </p:nvSpPr>
          <p:spPr>
            <a:xfrm>
              <a:off x="5844655" y="1366550"/>
              <a:ext cx="375300" cy="383700"/>
            </a:xfrm>
            <a:prstGeom prst="ellipse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21"/>
            <p:cNvSpPr txBox="1"/>
            <p:nvPr/>
          </p:nvSpPr>
          <p:spPr>
            <a:xfrm>
              <a:off x="5873521" y="1336892"/>
              <a:ext cx="375300" cy="30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baseline="-25000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8" name="Google Shape;1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338" y="1531428"/>
            <a:ext cx="287592" cy="287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1"/>
          <p:cNvCxnSpPr>
            <a:stCxn id="133" idx="3"/>
            <a:endCxn id="136" idx="3"/>
          </p:cNvCxnSpPr>
          <p:nvPr/>
        </p:nvCxnSpPr>
        <p:spPr>
          <a:xfrm flipH="1" rot="10800000">
            <a:off x="5465421" y="1845174"/>
            <a:ext cx="1087200" cy="867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0" name="Google Shape;140;p21"/>
          <p:cNvCxnSpPr>
            <a:stCxn id="130" idx="3"/>
            <a:endCxn id="136" idx="2"/>
          </p:cNvCxnSpPr>
          <p:nvPr/>
        </p:nvCxnSpPr>
        <p:spPr>
          <a:xfrm flipH="1" rot="10800000">
            <a:off x="5465413" y="1679214"/>
            <a:ext cx="995700" cy="245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1" name="Google Shape;141;p21"/>
          <p:cNvCxnSpPr>
            <a:stCxn id="127" idx="3"/>
            <a:endCxn id="136" idx="2"/>
          </p:cNvCxnSpPr>
          <p:nvPr/>
        </p:nvCxnSpPr>
        <p:spPr>
          <a:xfrm>
            <a:off x="5450980" y="1540333"/>
            <a:ext cx="1010100" cy="138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42" name="Google Shape;142;p21"/>
          <p:cNvCxnSpPr>
            <a:stCxn id="124" idx="3"/>
            <a:endCxn id="137" idx="1"/>
          </p:cNvCxnSpPr>
          <p:nvPr/>
        </p:nvCxnSpPr>
        <p:spPr>
          <a:xfrm>
            <a:off x="5450980" y="1122419"/>
            <a:ext cx="1058100" cy="4707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43" name="Google Shape;143;p21"/>
          <p:cNvSpPr txBox="1"/>
          <p:nvPr/>
        </p:nvSpPr>
        <p:spPr>
          <a:xfrm flipH="1">
            <a:off x="5696285" y="1000476"/>
            <a:ext cx="44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 flipH="1">
            <a:off x="5691972" y="1284892"/>
            <a:ext cx="44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5" name="Google Shape;145;p21"/>
          <p:cNvSpPr txBox="1"/>
          <p:nvPr/>
        </p:nvSpPr>
        <p:spPr>
          <a:xfrm flipH="1">
            <a:off x="5698034" y="1510461"/>
            <a:ext cx="44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 flipH="1">
            <a:off x="5675534" y="1983486"/>
            <a:ext cx="44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6596095" y="2452655"/>
            <a:ext cx="404166" cy="310019"/>
            <a:chOff x="5844655" y="1336892"/>
            <a:chExt cx="404166" cy="413358"/>
          </a:xfrm>
        </p:grpSpPr>
        <p:sp>
          <p:nvSpPr>
            <p:cNvPr id="148" name="Google Shape;148;p21"/>
            <p:cNvSpPr/>
            <p:nvPr/>
          </p:nvSpPr>
          <p:spPr>
            <a:xfrm>
              <a:off x="5844655" y="1366550"/>
              <a:ext cx="375300" cy="383700"/>
            </a:xfrm>
            <a:prstGeom prst="ellipse">
              <a:avLst/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1"/>
            <p:cNvSpPr txBox="1"/>
            <p:nvPr/>
          </p:nvSpPr>
          <p:spPr>
            <a:xfrm>
              <a:off x="5873521" y="1336892"/>
              <a:ext cx="375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0" name="Google Shape;150;p21"/>
          <p:cNvCxnSpPr>
            <a:stCxn id="148" idx="0"/>
            <a:endCxn id="136" idx="4"/>
          </p:cNvCxnSpPr>
          <p:nvPr/>
        </p:nvCxnSpPr>
        <p:spPr>
          <a:xfrm rot="10800000">
            <a:off x="6773245" y="1913899"/>
            <a:ext cx="10500" cy="561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51" name="Google Shape;151;p21"/>
          <p:cNvSpPr/>
          <p:nvPr/>
        </p:nvSpPr>
        <p:spPr>
          <a:xfrm>
            <a:off x="7427963" y="1444924"/>
            <a:ext cx="735900" cy="46920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 flipH="1">
            <a:off x="7623727" y="1413774"/>
            <a:ext cx="44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21"/>
          <p:cNvCxnSpPr>
            <a:stCxn id="136" idx="6"/>
          </p:cNvCxnSpPr>
          <p:nvPr/>
        </p:nvCxnSpPr>
        <p:spPr>
          <a:xfrm>
            <a:off x="7085203" y="1679306"/>
            <a:ext cx="3429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cxnSp>
        <p:nvCxnSpPr>
          <p:cNvPr id="154" name="Google Shape;154;p21"/>
          <p:cNvCxnSpPr>
            <a:stCxn id="151" idx="3"/>
          </p:cNvCxnSpPr>
          <p:nvPr/>
        </p:nvCxnSpPr>
        <p:spPr>
          <a:xfrm>
            <a:off x="8163863" y="1679524"/>
            <a:ext cx="8367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155" name="Google Shape;155;p21"/>
          <p:cNvSpPr txBox="1"/>
          <p:nvPr/>
        </p:nvSpPr>
        <p:spPr>
          <a:xfrm>
            <a:off x="7240356" y="1924955"/>
            <a:ext cx="113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8144817" y="1386433"/>
            <a:ext cx="85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4685841" y="2838198"/>
            <a:ext cx="1215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Features’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instance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ct val="100000"/>
              <a:buFont typeface="Arial"/>
              <a:buNone/>
            </a:pPr>
            <a:r>
              <a:rPr lang="pt-BR" sz="4000"/>
              <a:t>Activation Function &amp; Non-linearity</a:t>
            </a:r>
            <a:endParaRPr/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Motivation: linear classifier can not solve some problems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Example: learning the XOR function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Goal of activation function: to add non-linearity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64" name="Google Shape;1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1878" y="2791738"/>
            <a:ext cx="3996444" cy="205222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 txBox="1"/>
          <p:nvPr/>
        </p:nvSpPr>
        <p:spPr>
          <a:xfrm>
            <a:off x="4282739" y="2671064"/>
            <a:ext cx="6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1711381" y="2663954"/>
            <a:ext cx="10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[1,0]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1941086" y="4472893"/>
            <a:ext cx="65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[0,0]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062705" y="4557473"/>
            <a:ext cx="108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[0,1]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Typical Activation Function</a:t>
            </a:r>
            <a:endParaRPr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Step function scales between 0 and 1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75" name="Google Shape;17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176" y="1968276"/>
            <a:ext cx="4286324" cy="261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2198351" y="4671150"/>
            <a:ext cx="2962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https://appliedgo.net/perceptron/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Typical Activation Function</a:t>
            </a:r>
            <a:endParaRPr/>
          </a:p>
        </p:txBody>
      </p:sp>
      <p:sp>
        <p:nvSpPr>
          <p:cNvPr id="182" name="Google Shape;182;p24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Sigmoid Function scales between 0 and 1</a:t>
            </a:r>
            <a:endParaRPr/>
          </a:p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261" y="1992084"/>
            <a:ext cx="6102678" cy="280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/>
        </p:nvSpPr>
        <p:spPr>
          <a:xfrm>
            <a:off x="7079253" y="4690650"/>
            <a:ext cx="151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Wikipedia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Typical Activation Function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pt-BR"/>
              <a:t>Hyperbolic tangent </a:t>
            </a:r>
            <a:r>
              <a:rPr lang="pt-BR"/>
              <a:t>scales between -1 and 1</a:t>
            </a:r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7054561" y="4616573"/>
            <a:ext cx="208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Wikipedia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upload.wikimedia.org/wikipedia/commons/thumb/8/87/Hyperbolic_Tangent.svg/490px-Hyperbolic_Tangent.svg.png" id="192" name="Google Shape;19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4699" y="1922499"/>
            <a:ext cx="4889253" cy="26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Typical Activation Function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857250" y="1507175"/>
            <a:ext cx="37344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Rectifier: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 unit using the rectifier </a:t>
            </a:r>
            <a:br>
              <a:rPr lang="pt-BR"/>
            </a:br>
            <a:r>
              <a:rPr lang="pt-BR"/>
              <a:t>function is called rectified linear unit (ReLU)</a:t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4580702" y="4208640"/>
            <a:ext cx="442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http://datascience.stackexchange.com/questions/5706/what-is-the-dying-relu-problem-in-neural-networks</a:t>
            </a:r>
            <a:endParaRPr sz="1100"/>
          </a:p>
        </p:txBody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4189" y="1919912"/>
            <a:ext cx="1264884" cy="178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9801" y="1356525"/>
            <a:ext cx="3734341" cy="2814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Feed Forward Neural Networks</a:t>
            </a:r>
            <a:endParaRPr/>
          </a:p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857250" y="1095690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Layers of neurons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Information flows forward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First layer: input data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Last layer: output of the model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1226" y="2664450"/>
            <a:ext cx="3888050" cy="213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1679009" y="4851416"/>
            <a:ext cx="369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Feed Forward Neural Networks</a:t>
            </a:r>
            <a:endParaRPr/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The hidden layers (L</a:t>
            </a:r>
            <a:r>
              <a:rPr baseline="-25000" lang="pt-BR"/>
              <a:t>2</a:t>
            </a:r>
            <a:r>
              <a:rPr lang="pt-BR"/>
              <a:t>, L</a:t>
            </a:r>
            <a:r>
              <a:rPr baseline="-25000" lang="pt-BR"/>
              <a:t>3</a:t>
            </a:r>
            <a:r>
              <a:rPr lang="pt-BR"/>
              <a:t>) represent learned non-linear combination of input data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Project the input to a (usually) low dimensional space</a:t>
            </a:r>
            <a:endParaRPr/>
          </a:p>
        </p:txBody>
      </p:sp>
      <p:pic>
        <p:nvPicPr>
          <p:cNvPr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2330" y="2571759"/>
            <a:ext cx="4256619" cy="2332627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3087039" y="4904375"/>
            <a:ext cx="270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Computation: XOR Example</a:t>
            </a:r>
            <a:endParaRPr/>
          </a:p>
        </p:txBody>
      </p:sp>
      <p:pic>
        <p:nvPicPr>
          <p:cNvPr id="223" name="Google Shape;2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547791"/>
            <a:ext cx="5160950" cy="312983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/>
        </p:nvSpPr>
        <p:spPr>
          <a:xfrm>
            <a:off x="694604" y="4792442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Computation: XOR Example</a:t>
            </a:r>
            <a:endParaRPr/>
          </a:p>
        </p:txBody>
      </p:sp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0158" y="1606165"/>
            <a:ext cx="5306158" cy="3217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 txBox="1"/>
          <p:nvPr/>
        </p:nvSpPr>
        <p:spPr>
          <a:xfrm>
            <a:off x="694604" y="4792442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Computation: XOR Example</a:t>
            </a:r>
            <a:endParaRPr/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043" y="1561649"/>
            <a:ext cx="4610852" cy="279622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1"/>
          <p:cNvSpPr txBox="1"/>
          <p:nvPr/>
        </p:nvSpPr>
        <p:spPr>
          <a:xfrm>
            <a:off x="1052054" y="4603167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  <p:sp>
        <p:nvSpPr>
          <p:cNvPr id="239" name="Google Shape;239;p31"/>
          <p:cNvSpPr txBox="1"/>
          <p:nvPr/>
        </p:nvSpPr>
        <p:spPr>
          <a:xfrm>
            <a:off x="6538598" y="2376029"/>
            <a:ext cx="7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[1,1]*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 txBox="1"/>
          <p:nvPr/>
        </p:nvSpPr>
        <p:spPr>
          <a:xfrm>
            <a:off x="7300574" y="2313650"/>
            <a:ext cx="47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7772014" y="2313650"/>
            <a:ext cx="47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8251632" y="2313650"/>
            <a:ext cx="479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7877297" y="2814324"/>
            <a:ext cx="4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 txBox="1"/>
          <p:nvPr/>
        </p:nvSpPr>
        <p:spPr>
          <a:xfrm>
            <a:off x="6538598" y="2661296"/>
            <a:ext cx="68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7271378" y="2349936"/>
            <a:ext cx="80400" cy="422400"/>
          </a:xfrm>
          <a:prstGeom prst="leftBracket">
            <a:avLst>
              <a:gd fmla="val 8333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 flipH="1">
            <a:off x="8670018" y="2349936"/>
            <a:ext cx="45600" cy="422400"/>
          </a:xfrm>
          <a:prstGeom prst="leftBracket">
            <a:avLst>
              <a:gd fmla="val 8333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2582333" y="1968500"/>
            <a:ext cx="1213500" cy="246600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31"/>
          <p:cNvCxnSpPr/>
          <p:nvPr/>
        </p:nvCxnSpPr>
        <p:spPr>
          <a:xfrm flipH="1" rot="10800000">
            <a:off x="3795889" y="3196277"/>
            <a:ext cx="4219200" cy="1161600"/>
          </a:xfrm>
          <a:prstGeom prst="bentConnector3">
            <a:avLst>
              <a:gd fmla="val 99499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49" name="Google Shape;249;p31"/>
          <p:cNvSpPr txBox="1"/>
          <p:nvPr/>
        </p:nvSpPr>
        <p:spPr>
          <a:xfrm>
            <a:off x="6944079" y="1968500"/>
            <a:ext cx="18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Operation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Computation: XOR Example</a:t>
            </a:r>
            <a:endParaRPr/>
          </a:p>
        </p:txBody>
      </p:sp>
      <p:pic>
        <p:nvPicPr>
          <p:cNvPr id="255" name="Google Shape;2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4525" y="1590585"/>
            <a:ext cx="4965714" cy="3047837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/>
          <p:nvPr/>
        </p:nvSpPr>
        <p:spPr>
          <a:xfrm>
            <a:off x="694604" y="4792442"/>
            <a:ext cx="5684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3556000" y="2191493"/>
            <a:ext cx="1213500" cy="2466000"/>
          </a:xfrm>
          <a:prstGeom prst="rect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Computation: XOR Example</a:t>
            </a:r>
            <a:endParaRPr/>
          </a:p>
        </p:txBody>
      </p:sp>
      <p:sp>
        <p:nvSpPr>
          <p:cNvPr id="263" name="Google Shape;263;p33"/>
          <p:cNvSpPr txBox="1"/>
          <p:nvPr>
            <p:ph idx="1" type="body"/>
          </p:nvPr>
        </p:nvSpPr>
        <p:spPr>
          <a:xfrm>
            <a:off x="857250" y="11342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Summing the weights and applying the activation function in the output layer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/>
          </a:p>
        </p:txBody>
      </p:sp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7326" y="1824813"/>
            <a:ext cx="4513377" cy="277020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694604" y="4792442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  <p:sp>
        <p:nvSpPr>
          <p:cNvPr id="266" name="Google Shape;266;p33"/>
          <p:cNvSpPr txBox="1"/>
          <p:nvPr/>
        </p:nvSpPr>
        <p:spPr>
          <a:xfrm>
            <a:off x="6524101" y="2531789"/>
            <a:ext cx="178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[0.73,0.79,0.69]*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8335540" y="2292122"/>
            <a:ext cx="477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8347283" y="3042221"/>
            <a:ext cx="4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-25000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7214594" y="2837042"/>
            <a:ext cx="34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aseline="-25000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3"/>
          <p:cNvSpPr/>
          <p:nvPr/>
        </p:nvSpPr>
        <p:spPr>
          <a:xfrm flipH="1">
            <a:off x="8723335" y="2315363"/>
            <a:ext cx="78000" cy="656100"/>
          </a:xfrm>
          <a:prstGeom prst="leftBracket">
            <a:avLst>
              <a:gd fmla="val 8333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8279956" y="2341455"/>
            <a:ext cx="126000" cy="643200"/>
          </a:xfrm>
          <a:prstGeom prst="leftBracket">
            <a:avLst>
              <a:gd fmla="val 8333" name="adj"/>
            </a:avLst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5446889" y="3153835"/>
            <a:ext cx="451500" cy="2646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33"/>
          <p:cNvCxnSpPr>
            <a:stCxn id="272" idx="3"/>
          </p:cNvCxnSpPr>
          <p:nvPr/>
        </p:nvCxnSpPr>
        <p:spPr>
          <a:xfrm flipH="1" rot="10800000">
            <a:off x="5898389" y="3164335"/>
            <a:ext cx="2116800" cy="121800"/>
          </a:xfrm>
          <a:prstGeom prst="bentConnector3">
            <a:avLst>
              <a:gd fmla="val 99327" name="adj1"/>
            </a:avLst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id="274" name="Google Shape;274;p33"/>
          <p:cNvSpPr txBox="1"/>
          <p:nvPr/>
        </p:nvSpPr>
        <p:spPr>
          <a:xfrm>
            <a:off x="6944079" y="1968500"/>
            <a:ext cx="18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 Operation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Output Layer: Softmax-Classifier</a:t>
            </a:r>
            <a:endParaRPr/>
          </a:p>
        </p:txBody>
      </p:sp>
      <p:sp>
        <p:nvSpPr>
          <p:cNvPr id="280" name="Google Shape;280;p34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Multi-class classification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Given </a:t>
            </a:r>
            <a:r>
              <a:rPr i="1" lang="pt-BR"/>
              <a:t>K </a:t>
            </a:r>
            <a:r>
              <a:rPr lang="pt-BR"/>
              <a:t>classes (</a:t>
            </a:r>
            <a:r>
              <a:rPr i="1" lang="pt-BR"/>
              <a:t>K </a:t>
            </a:r>
            <a:r>
              <a:rPr lang="pt-BR"/>
              <a:t>= number of output units), compute the activation </a:t>
            </a:r>
            <a:r>
              <a:rPr i="1" lang="pt-BR"/>
              <a:t>z </a:t>
            </a:r>
            <a:r>
              <a:rPr lang="pt-BR"/>
              <a:t>for the last layer: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Compute the final output </a:t>
            </a:r>
            <a:r>
              <a:rPr i="1" lang="pt-BR"/>
              <a:t>y:</a:t>
            </a:r>
            <a:br>
              <a:rPr i="1" lang="pt-BR"/>
            </a:br>
            <a:br>
              <a:rPr i="1" lang="pt-BR"/>
            </a:br>
            <a:br>
              <a:rPr i="1" lang="pt-BR"/>
            </a:br>
            <a:r>
              <a:rPr i="1" lang="pt-BR"/>
              <a:t>y</a:t>
            </a:r>
            <a:r>
              <a:rPr baseline="-25000" i="1" lang="pt-BR"/>
              <a:t>j</a:t>
            </a:r>
            <a:r>
              <a:rPr lang="pt-BR"/>
              <a:t>  can have values between 0 and 1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i="1" lang="pt-BR"/>
              <a:t>     y</a:t>
            </a:r>
            <a:r>
              <a:rPr baseline="-25000" i="1" lang="pt-BR"/>
              <a:t>j</a:t>
            </a:r>
            <a:r>
              <a:rPr lang="pt-BR"/>
              <a:t>  sums up to 1 -&gt; it can be interpreted as probability distribution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i="1"/>
          </a:p>
        </p:txBody>
      </p:sp>
      <p:pic>
        <p:nvPicPr>
          <p:cNvPr id="281" name="Google Shape;2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1325" y="3191653"/>
            <a:ext cx="3007749" cy="402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746" y="2448794"/>
            <a:ext cx="2725362" cy="245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Neural Network as One Long Function</a:t>
            </a:r>
            <a:endParaRPr/>
          </a:p>
        </p:txBody>
      </p:sp>
      <p:sp>
        <p:nvSpPr>
          <p:cNvPr id="288" name="Google Shape;288;p35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Long function of vector and matrix operations</a:t>
            </a:r>
            <a:endParaRPr/>
          </a:p>
        </p:txBody>
      </p:sp>
      <p:pic>
        <p:nvPicPr>
          <p:cNvPr id="289" name="Google Shape;2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175" y="2172174"/>
            <a:ext cx="4716850" cy="22323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2679047" y="4596100"/>
            <a:ext cx="269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 sz="1100"/>
          </a:p>
        </p:txBody>
      </p:sp>
      <p:pic>
        <p:nvPicPr>
          <p:cNvPr id="291" name="Google Shape;29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319" y="1940253"/>
            <a:ext cx="3940814" cy="165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Neural Network as One Long Function</a:t>
            </a:r>
            <a:endParaRPr/>
          </a:p>
        </p:txBody>
      </p:sp>
      <p:sp>
        <p:nvSpPr>
          <p:cNvPr id="297" name="Google Shape;297;p36"/>
          <p:cNvSpPr txBox="1"/>
          <p:nvPr>
            <p:ph idx="1" type="body"/>
          </p:nvPr>
        </p:nvSpPr>
        <p:spPr>
          <a:xfrm>
            <a:off x="833125" y="13096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Long function of vector and matrix operations</a:t>
            </a:r>
            <a:endParaRPr/>
          </a:p>
        </p:txBody>
      </p:sp>
      <p:sp>
        <p:nvSpPr>
          <p:cNvPr id="298" name="Google Shape;298;p36"/>
          <p:cNvSpPr txBox="1"/>
          <p:nvPr/>
        </p:nvSpPr>
        <p:spPr>
          <a:xfrm>
            <a:off x="2146402" y="4768890"/>
            <a:ext cx="3695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/>
          </a:p>
        </p:txBody>
      </p:sp>
      <p:pic>
        <p:nvPicPr>
          <p:cNvPr id="299" name="Google Shape;2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372" y="1747447"/>
            <a:ext cx="4217475" cy="29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7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Neural Network as One Long Function</a:t>
            </a:r>
            <a:endParaRPr/>
          </a:p>
        </p:txBody>
      </p:sp>
      <p:sp>
        <p:nvSpPr>
          <p:cNvPr id="305" name="Google Shape;305;p37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Long function of vector and matrix operations</a:t>
            </a:r>
            <a:endParaRPr/>
          </a:p>
        </p:txBody>
      </p:sp>
      <p:sp>
        <p:nvSpPr>
          <p:cNvPr id="306" name="Google Shape;306;p37"/>
          <p:cNvSpPr txBox="1"/>
          <p:nvPr/>
        </p:nvSpPr>
        <p:spPr>
          <a:xfrm>
            <a:off x="2731697" y="4768900"/>
            <a:ext cx="2623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 sz="1100"/>
          </a:p>
        </p:txBody>
      </p:sp>
      <p:pic>
        <p:nvPicPr>
          <p:cNvPr id="307" name="Google Shape;3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500" y="1878797"/>
            <a:ext cx="4019600" cy="28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Neural Network as One Long Function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Long function of vector and matrix operations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Compose linear combinations and activation functions</a:t>
            </a:r>
            <a:endParaRPr/>
          </a:p>
        </p:txBody>
      </p:sp>
      <p:sp>
        <p:nvSpPr>
          <p:cNvPr id="314" name="Google Shape;314;p38"/>
          <p:cNvSpPr txBox="1"/>
          <p:nvPr/>
        </p:nvSpPr>
        <p:spPr>
          <a:xfrm>
            <a:off x="2379150" y="4920750"/>
            <a:ext cx="268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http://ufldl.stanford.edu/wiki/</a:t>
            </a:r>
            <a:endParaRPr sz="1100"/>
          </a:p>
        </p:txBody>
      </p:sp>
      <p:pic>
        <p:nvPicPr>
          <p:cNvPr id="315" name="Google Shape;3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6722" y="2239150"/>
            <a:ext cx="4079776" cy="268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Feed-Forward Network for Handwritten Digit Recognition</a:t>
            </a:r>
            <a:endParaRPr/>
          </a:p>
        </p:txBody>
      </p:sp>
      <p:pic>
        <p:nvPicPr>
          <p:cNvPr descr="http://neuralnetworksanddeeplearning.com/images/tikz12.png" id="321" name="Google Shape;32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275606"/>
            <a:ext cx="4268242" cy="355289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9"/>
          <p:cNvSpPr txBox="1"/>
          <p:nvPr/>
        </p:nvSpPr>
        <p:spPr>
          <a:xfrm>
            <a:off x="4621088" y="4623978"/>
            <a:ext cx="4343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http://neuralnetworksanddeeplearning.com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Hidden Layers: Rules of Thumb</a:t>
            </a:r>
            <a:endParaRPr/>
          </a:p>
        </p:txBody>
      </p:sp>
      <p:sp>
        <p:nvSpPr>
          <p:cNvPr id="328" name="Google Shape;328;p40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The number and the size of the hidden layers can have a large impact on the performance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More hidden layers  more parameters to learn  more data you need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Start with a small number of hidden layers, i.e. with 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Increase number of hidden layers stepwise until you find an optimum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Learning the Weights</a:t>
            </a:r>
            <a:endParaRPr/>
          </a:p>
        </p:txBody>
      </p:sp>
      <p:pic>
        <p:nvPicPr>
          <p:cNvPr id="334" name="Google Shape;33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795" y="1407509"/>
            <a:ext cx="4513377" cy="277020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1"/>
          <p:cNvSpPr txBox="1"/>
          <p:nvPr/>
        </p:nvSpPr>
        <p:spPr>
          <a:xfrm>
            <a:off x="694604" y="4792442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  <p:sp>
        <p:nvSpPr>
          <p:cNvPr id="336" name="Google Shape;336;p41"/>
          <p:cNvSpPr/>
          <p:nvPr/>
        </p:nvSpPr>
        <p:spPr>
          <a:xfrm>
            <a:off x="4196066" y="3641359"/>
            <a:ext cx="1586100" cy="470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Training</a:t>
            </a:r>
            <a:endParaRPr/>
          </a:p>
        </p:txBody>
      </p:sp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Goal: to minimize the error over the training data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Error: difference  between the output of the network and the expected output (true label)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Mean-squared error: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      where </a:t>
            </a:r>
            <a:r>
              <a:rPr i="1" lang="pt-BR"/>
              <a:t>y</a:t>
            </a:r>
            <a:r>
              <a:rPr baseline="-25000" i="1" lang="pt-BR"/>
              <a:t>i </a:t>
            </a:r>
            <a:r>
              <a:rPr lang="pt-BR"/>
              <a:t>:</a:t>
            </a:r>
            <a:r>
              <a:rPr i="1" lang="pt-BR"/>
              <a:t> </a:t>
            </a:r>
            <a:r>
              <a:rPr lang="pt-BR"/>
              <a:t>the expected value of instance </a:t>
            </a:r>
            <a:r>
              <a:rPr i="1" lang="pt-BR"/>
              <a:t>i</a:t>
            </a:r>
            <a:r>
              <a:rPr lang="pt-BR"/>
              <a:t> and </a:t>
            </a:r>
            <a:r>
              <a:rPr i="1" lang="pt-BR"/>
              <a:t>o</a:t>
            </a:r>
            <a:r>
              <a:rPr baseline="-25000" lang="pt-BR"/>
              <a:t> </a:t>
            </a:r>
            <a:r>
              <a:rPr lang="pt-BR"/>
              <a:t>the network’s output of </a:t>
            </a:r>
            <a:r>
              <a:rPr i="1" lang="pt-BR"/>
              <a:t>i</a:t>
            </a:r>
            <a:endParaRPr i="1"/>
          </a:p>
        </p:txBody>
      </p:sp>
      <p:grpSp>
        <p:nvGrpSpPr>
          <p:cNvPr id="343" name="Google Shape;343;p42"/>
          <p:cNvGrpSpPr/>
          <p:nvPr/>
        </p:nvGrpSpPr>
        <p:grpSpPr>
          <a:xfrm>
            <a:off x="1455203" y="2896468"/>
            <a:ext cx="3079459" cy="239700"/>
            <a:chOff x="2401603" y="2896443"/>
            <a:chExt cx="3079459" cy="239700"/>
          </a:xfrm>
        </p:grpSpPr>
        <p:pic>
          <p:nvPicPr>
            <p:cNvPr id="344" name="Google Shape;344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08576" y="2896506"/>
              <a:ext cx="2972486" cy="2395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42"/>
            <p:cNvSpPr/>
            <p:nvPr/>
          </p:nvSpPr>
          <p:spPr>
            <a:xfrm>
              <a:off x="2401603" y="2896443"/>
              <a:ext cx="1518300" cy="239700"/>
            </a:xfrm>
            <a:prstGeom prst="rect">
              <a:avLst/>
            </a:prstGeom>
            <a:solidFill>
              <a:srgbClr val="F7F6E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3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Error Function: Negative log-likelihood </a:t>
            </a:r>
            <a:endParaRPr/>
          </a:p>
        </p:txBody>
      </p:sp>
      <p:sp>
        <p:nvSpPr>
          <p:cNvPr id="351" name="Google Shape;351;p43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Negative log-likelihood: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P(Y=y*|x): probability of x belonging to the true class y*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Ex: given the true label of a sentence s is negative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The probability of s being negative returned by the network is 0.5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Error = - log(1/2) = 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Error = 0 if p = 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Error increases as p &lt;&lt; 0</a:t>
            </a:r>
            <a:endParaRPr/>
          </a:p>
        </p:txBody>
      </p:sp>
      <p:pic>
        <p:nvPicPr>
          <p:cNvPr id="352" name="Google Shape;3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5476" y="1873900"/>
            <a:ext cx="1860475" cy="55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Example of Error Function</a:t>
            </a:r>
            <a:endParaRPr/>
          </a:p>
        </p:txBody>
      </p:sp>
      <p:pic>
        <p:nvPicPr>
          <p:cNvPr id="358" name="Google Shape;35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00" y="1701326"/>
            <a:ext cx="4404820" cy="19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8314" y="1308813"/>
            <a:ext cx="4725777" cy="17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mathworks.com/matlabcentral/fileexchange/screenshots/4134/original.jpg" id="360" name="Google Shape;360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8690" y="1758452"/>
            <a:ext cx="2817173" cy="1720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4"/>
          <p:cNvSpPr txBox="1"/>
          <p:nvPr/>
        </p:nvSpPr>
        <p:spPr>
          <a:xfrm>
            <a:off x="6033169" y="3534343"/>
            <a:ext cx="125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Curve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4"/>
          <p:cNvSpPr txBox="1"/>
          <p:nvPr/>
        </p:nvSpPr>
        <p:spPr>
          <a:xfrm>
            <a:off x="6762643" y="3958787"/>
            <a:ext cx="2076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 source: mathworks.de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Training: Back Propagation</a:t>
            </a:r>
            <a:endParaRPr/>
          </a:p>
        </p:txBody>
      </p:sp>
      <p:sp>
        <p:nvSpPr>
          <p:cNvPr id="368" name="Google Shape;368;p45"/>
          <p:cNvSpPr txBox="1"/>
          <p:nvPr>
            <p:ph idx="1" type="body"/>
          </p:nvPr>
        </p:nvSpPr>
        <p:spPr>
          <a:xfrm>
            <a:off x="857250" y="1507176"/>
            <a:ext cx="7429500" cy="3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Tuning parameters (weights and biases) to minimize the error: optimization problem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Analytical solution doesn’t work: huge number of parameters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Gradient descent: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The gradient of the error curve points towards a local minima</a:t>
            </a:r>
            <a:endParaRPr/>
          </a:p>
        </p:txBody>
      </p:sp>
      <p:pic>
        <p:nvPicPr>
          <p:cNvPr descr="http://www.mathworks.com/matlabcentral/fileexchange/screenshots/4134/original.jpg" id="369" name="Google Shape;36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5875" y="2478822"/>
            <a:ext cx="2595825" cy="158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45"/>
          <p:cNvSpPr txBox="1"/>
          <p:nvPr/>
        </p:nvSpPr>
        <p:spPr>
          <a:xfrm>
            <a:off x="2937642" y="4022383"/>
            <a:ext cx="1512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Source: mathworks.de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6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Training with Back Propagation</a:t>
            </a:r>
            <a:endParaRPr/>
          </a:p>
        </p:txBody>
      </p:sp>
      <p:sp>
        <p:nvSpPr>
          <p:cNvPr id="376" name="Google Shape;376;p46"/>
          <p:cNvSpPr txBox="1"/>
          <p:nvPr>
            <p:ph idx="1" type="body"/>
          </p:nvPr>
        </p:nvSpPr>
        <p:spPr>
          <a:xfrm>
            <a:off x="857250" y="1244375"/>
            <a:ext cx="7429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28625" lvl="0" marL="7175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AutoNum type="arabicPeriod"/>
            </a:pPr>
            <a:r>
              <a:rPr lang="pt-BR"/>
              <a:t>Initialize the weights and biases randomly</a:t>
            </a:r>
            <a:endParaRPr/>
          </a:p>
          <a:p>
            <a:pPr indent="-428625" lvl="0" marL="7175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AutoNum type="arabicPeriod"/>
            </a:pPr>
            <a:r>
              <a:rPr lang="pt-BR"/>
              <a:t>Given the input data, compute the values for the output neurons</a:t>
            </a:r>
            <a:endParaRPr/>
          </a:p>
          <a:p>
            <a:pPr indent="-428625" lvl="0" marL="7175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AutoNum type="arabicPeriod"/>
            </a:pPr>
            <a:r>
              <a:rPr lang="pt-BR"/>
              <a:t>Compare the output to the gold labels – compute error function</a:t>
            </a:r>
            <a:endParaRPr/>
          </a:p>
          <a:p>
            <a:pPr indent="-428625" lvl="0" marL="7175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AutoNum type="arabicPeriod"/>
            </a:pPr>
            <a:r>
              <a:rPr lang="pt-BR"/>
              <a:t>Compute the derivative for all tunable parameters (weights and parameters)</a:t>
            </a:r>
            <a:endParaRPr/>
          </a:p>
          <a:p>
            <a:pPr indent="-428625" lvl="0" marL="71755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AutoNum type="arabicPeriod"/>
            </a:pPr>
            <a:r>
              <a:rPr lang="pt-BR"/>
              <a:t>Update the parameters: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           is denoting the learning rate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33333"/>
              <a:buNone/>
            </a:pPr>
            <a:r>
              <a:t/>
            </a:r>
            <a:endParaRPr/>
          </a:p>
        </p:txBody>
      </p:sp>
      <p:pic>
        <p:nvPicPr>
          <p:cNvPr id="377" name="Google Shape;37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0219" y="2585822"/>
            <a:ext cx="2290881" cy="2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6021" y="2865023"/>
            <a:ext cx="1999278" cy="2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5978" y="3240818"/>
            <a:ext cx="80973" cy="118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011" y="3531370"/>
            <a:ext cx="2511258" cy="1360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62896" y="3528966"/>
            <a:ext cx="2515695" cy="136244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6"/>
          <p:cNvSpPr txBox="1"/>
          <p:nvPr/>
        </p:nvSpPr>
        <p:spPr>
          <a:xfrm>
            <a:off x="810062" y="4891412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https://www.willamette.edu/~gorr/classes/cs449/linear2.html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Training with Back Propagation</a:t>
            </a:r>
            <a:endParaRPr/>
          </a:p>
        </p:txBody>
      </p:sp>
      <p:sp>
        <p:nvSpPr>
          <p:cNvPr id="388" name="Google Shape;388;p47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Each iteration of backpropagation is called an epoch</a:t>
            </a:r>
            <a:endParaRPr/>
          </a:p>
          <a:p>
            <a:pPr indent="-342900" lvl="1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After each epoch, the error function decreases,</a:t>
            </a:r>
            <a:br>
              <a:rPr lang="pt-BR"/>
            </a:br>
            <a:r>
              <a:rPr lang="pt-BR"/>
              <a:t>converging to a local minima</a:t>
            </a:r>
            <a:endParaRPr/>
          </a:p>
          <a:p>
            <a:pPr indent="-342900" lvl="1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Mini-batches: </a:t>
            </a:r>
            <a:endParaRPr/>
          </a:p>
          <a:p>
            <a:pPr indent="-457200" lvl="2" marL="8572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Compute derivatives for few instances</a:t>
            </a:r>
            <a:endParaRPr/>
          </a:p>
          <a:p>
            <a:pPr indent="-457200" lvl="2" marL="8572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Accumulate them</a:t>
            </a:r>
            <a:endParaRPr/>
          </a:p>
          <a:p>
            <a:pPr indent="-457200" lvl="2" marL="8572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pt-BR"/>
              <a:t>Update the parameters based on them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389" name="Google Shape;3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224" y="3714924"/>
            <a:ext cx="2290881" cy="2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3626" y="4081274"/>
            <a:ext cx="1999278" cy="2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8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Back Propagation: Example</a:t>
            </a:r>
            <a:endParaRPr/>
          </a:p>
        </p:txBody>
      </p:sp>
      <p:pic>
        <p:nvPicPr>
          <p:cNvPr id="396" name="Google Shape;39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302" y="1401533"/>
            <a:ext cx="4513377" cy="277020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8"/>
          <p:cNvSpPr txBox="1"/>
          <p:nvPr/>
        </p:nvSpPr>
        <p:spPr>
          <a:xfrm>
            <a:off x="1436845" y="4688567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Back Propagation: Example</a:t>
            </a:r>
            <a:endParaRPr/>
          </a:p>
        </p:txBody>
      </p:sp>
      <p:sp>
        <p:nvSpPr>
          <p:cNvPr id="403" name="Google Shape;403;p49"/>
          <p:cNvSpPr txBox="1"/>
          <p:nvPr>
            <p:ph idx="1" type="body"/>
          </p:nvPr>
        </p:nvSpPr>
        <p:spPr>
          <a:xfrm>
            <a:off x="204375" y="1317890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After 1 epoch: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 txBox="1"/>
          <p:nvPr/>
        </p:nvSpPr>
        <p:spPr>
          <a:xfrm>
            <a:off x="204376" y="1861765"/>
            <a:ext cx="21729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old            new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w1: 0.8     w1: 0.712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w2: 0.4     w2: 0.3548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w3: 0.3     w3: 0.2681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w4: 0.2     w4: 0.112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w5: 0.9     w5: 0.8548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w6: 0.5     w6: 0.4681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w7: 0.3     w7: 0.1162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w8: 0.5     w8: 0.329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w9: 0.9     w9: 0.708</a:t>
            </a:r>
            <a:endParaRPr/>
          </a:p>
        </p:txBody>
      </p:sp>
      <p:pic>
        <p:nvPicPr>
          <p:cNvPr id="405" name="Google Shape;40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3836" y="1648195"/>
            <a:ext cx="4824371" cy="2925717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9"/>
          <p:cNvSpPr txBox="1"/>
          <p:nvPr/>
        </p:nvSpPr>
        <p:spPr>
          <a:xfrm>
            <a:off x="1452021" y="4705565"/>
            <a:ext cx="568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Img-Source: http://stevenmiller888.github.io/mind-how-to-build-a-neural-network/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Computation of Gradients</a:t>
            </a:r>
            <a:endParaRPr/>
          </a:p>
        </p:txBody>
      </p:sp>
      <p:sp>
        <p:nvSpPr>
          <p:cNvPr id="412" name="Google Shape;412;p50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Computation of the gradient (the derivative of a multi dimensional function) can be cumbersome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Billions of computations</a:t>
            </a:r>
            <a:br>
              <a:rPr lang="pt-BR"/>
            </a:b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DL frameworks provide us automatic gradient computation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We don’t need to compute the derivative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And we don’t need to implement it into our program code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Motivation for Deep Learning</a:t>
            </a:r>
            <a:endParaRPr/>
          </a:p>
        </p:txBody>
      </p:sp>
      <p:sp>
        <p:nvSpPr>
          <p:cNvPr id="418" name="Google Shape;418;p51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In theory, feed forward networks with a single hidden layer can compute any function: no need for deep architectures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However, learning shallow architectures is not always efficient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Some problems require an exponential number of hidden units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2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What does a Deep Network can look like?</a:t>
            </a:r>
            <a:endParaRPr/>
          </a:p>
        </p:txBody>
      </p:sp>
      <p:sp>
        <p:nvSpPr>
          <p:cNvPr id="424" name="Google Shape;424;p52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pt-BR" sz="1400"/>
              <a:t>Source: Szegedy et al., 2014, Going Deeper with Convolutions</a:t>
            </a:r>
            <a:endParaRPr/>
          </a:p>
        </p:txBody>
      </p:sp>
      <p:pic>
        <p:nvPicPr>
          <p:cNvPr id="425" name="Google Shape;42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0955"/>
            <a:ext cx="9143998" cy="1563307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2"/>
          <p:cNvSpPr txBox="1"/>
          <p:nvPr/>
        </p:nvSpPr>
        <p:spPr>
          <a:xfrm>
            <a:off x="7511605" y="2355726"/>
            <a:ext cx="1596900" cy="1293000"/>
          </a:xfrm>
          <a:prstGeom prst="rect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Convolution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Pooling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F1C232"/>
                </a:solidFill>
                <a:latin typeface="Arial"/>
                <a:ea typeface="Arial"/>
                <a:cs typeface="Arial"/>
                <a:sym typeface="Arial"/>
              </a:rPr>
              <a:t>Softmax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</p:txBody>
      </p:sp>
      <p:sp>
        <p:nvSpPr>
          <p:cNvPr id="427" name="Google Shape;427;p52"/>
          <p:cNvSpPr txBox="1"/>
          <p:nvPr/>
        </p:nvSpPr>
        <p:spPr>
          <a:xfrm>
            <a:off x="250826" y="2783161"/>
            <a:ext cx="70968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9718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A2626"/>
              </a:buClr>
              <a:buSzPct val="100000"/>
              <a:buFont typeface="Arial"/>
              <a:buChar char="•"/>
            </a:pPr>
            <a:r>
              <a:rPr lang="pt-BR" sz="2400">
                <a:solidFill>
                  <a:srgbClr val="8A2626"/>
                </a:solidFill>
                <a:latin typeface="Calibri"/>
                <a:ea typeface="Calibri"/>
                <a:cs typeface="Calibri"/>
                <a:sym typeface="Calibri"/>
              </a:rPr>
              <a:t>Google’s Entry for the 2014 ImageNet Challenge</a:t>
            </a:r>
            <a:endParaRPr/>
          </a:p>
          <a:p>
            <a:pPr indent="-29718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8A2626"/>
              </a:buClr>
              <a:buSzPct val="100000"/>
              <a:buFont typeface="Arial"/>
              <a:buChar char="•"/>
            </a:pPr>
            <a:r>
              <a:rPr lang="pt-BR" sz="2400">
                <a:solidFill>
                  <a:srgbClr val="8A2626"/>
                </a:solidFill>
                <a:latin typeface="Calibri"/>
                <a:ea typeface="Calibri"/>
                <a:cs typeface="Calibri"/>
                <a:sym typeface="Calibri"/>
              </a:rPr>
              <a:t>5 million parameters – 20MB model size</a:t>
            </a:r>
            <a:endParaRPr/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rgbClr val="8A2626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rgbClr val="8A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8A2626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rgbClr val="8A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8A2626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rgbClr val="8A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3"/>
          <p:cNvSpPr txBox="1"/>
          <p:nvPr>
            <p:ph type="title"/>
          </p:nvPr>
        </p:nvSpPr>
        <p:spPr>
          <a:xfrm>
            <a:off x="857250" y="400051"/>
            <a:ext cx="74295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B1E2F"/>
              </a:buClr>
              <a:buSzPts val="3200"/>
              <a:buFont typeface="Arial"/>
              <a:buNone/>
            </a:pPr>
            <a:r>
              <a:rPr lang="pt-BR"/>
              <a:t>Requirements for Training</a:t>
            </a:r>
            <a:endParaRPr/>
          </a:p>
        </p:txBody>
      </p:sp>
      <p:sp>
        <p:nvSpPr>
          <p:cNvPr id="433" name="Google Shape;433;p53"/>
          <p:cNvSpPr txBox="1"/>
          <p:nvPr>
            <p:ph idx="1" type="body"/>
          </p:nvPr>
        </p:nvSpPr>
        <p:spPr>
          <a:xfrm>
            <a:off x="857250" y="1507165"/>
            <a:ext cx="7429500" cy="30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Deal with billions of operations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Google had trained some models on up to 16000 cores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Fast: performance in training time is </a:t>
            </a:r>
            <a:r>
              <a:rPr b="1" lang="pt-BR"/>
              <a:t>crucial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Nearly all operations are matrix operations (multiplications, additions)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Optimizing matrix multiplication for speed is hard</a:t>
            </a:r>
            <a:endParaRPr/>
          </a:p>
          <a:p>
            <a:pPr indent="-342900" lvl="0" marL="34290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Run on multiple CPUs and on GPUs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gleLinesVTI">
  <a:themeElements>
    <a:clrScheme name="AnalogousFromRegularSeedLeftStep">
      <a:dk1>
        <a:srgbClr val="000000"/>
      </a:dk1>
      <a:lt1>
        <a:srgbClr val="FFFFFF"/>
      </a:lt1>
      <a:dk2>
        <a:srgbClr val="1B2B30"/>
      </a:dk2>
      <a:lt2>
        <a:srgbClr val="F1F3F0"/>
      </a:lt2>
      <a:accent1>
        <a:srgbClr val="D129E7"/>
      </a:accent1>
      <a:accent2>
        <a:srgbClr val="7620D6"/>
      </a:accent2>
      <a:accent3>
        <a:srgbClr val="3329E7"/>
      </a:accent3>
      <a:accent4>
        <a:srgbClr val="175CD5"/>
      </a:accent4>
      <a:accent5>
        <a:srgbClr val="27BAE3"/>
      </a:accent5>
      <a:accent6>
        <a:srgbClr val="15C2A0"/>
      </a:accent6>
      <a:hlink>
        <a:srgbClr val="409D34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